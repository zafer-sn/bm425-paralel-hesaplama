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30.09.2024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665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84697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488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9521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4533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547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1103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7171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5825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0787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6257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6215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6734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82747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3165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4019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7998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7517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783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65948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4802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1488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0746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730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30.09.2024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PYTHON NEDİR?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Python</a:t>
            </a:r>
            <a:r>
              <a:rPr lang="tr-TR" dirty="0"/>
              <a:t>, yüksek seviyeli, genel amaçlı bir programlama dilidir. </a:t>
            </a:r>
            <a:r>
              <a:rPr lang="tr-TR" dirty="0" err="1"/>
              <a:t>Guido</a:t>
            </a:r>
            <a:r>
              <a:rPr lang="tr-TR" dirty="0"/>
              <a:t> </a:t>
            </a:r>
            <a:r>
              <a:rPr lang="tr-TR" dirty="0" err="1"/>
              <a:t>van</a:t>
            </a:r>
            <a:r>
              <a:rPr lang="tr-TR" dirty="0"/>
              <a:t> </a:t>
            </a:r>
            <a:r>
              <a:rPr lang="tr-TR" dirty="0" err="1"/>
              <a:t>Rossum</a:t>
            </a:r>
            <a:r>
              <a:rPr lang="tr-TR" dirty="0"/>
              <a:t> tarafından 1991 yılında geliştirilmeye başlanan </a:t>
            </a:r>
            <a:r>
              <a:rPr lang="tr-TR" dirty="0" err="1"/>
              <a:t>Python</a:t>
            </a:r>
            <a:r>
              <a:rPr lang="tr-TR" dirty="0"/>
              <a:t>, basit ve okunabilir bir sözdizimine sahiptir.</a:t>
            </a:r>
          </a:p>
        </p:txBody>
      </p:sp>
      <p:pic>
        <p:nvPicPr>
          <p:cNvPr id="1026" name="Picture 2" descr="Help port Python packages to Python 3 - Fedora Magaz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000" y="3694536"/>
            <a:ext cx="6804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54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PYTHON NEDİR?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Python</a:t>
            </a:r>
            <a:r>
              <a:rPr lang="tr-TR" dirty="0" smtClean="0"/>
              <a:t>, nesne yönelimli programlama(OOP) özelliklerini destekler. Platform bağımsız bir programlama dilidir. Açık kaynaklıdır. Topluluk desteği çok yüksektir.</a:t>
            </a:r>
            <a:endParaRPr lang="tr-TR" dirty="0"/>
          </a:p>
        </p:txBody>
      </p:sp>
      <p:pic>
        <p:nvPicPr>
          <p:cNvPr id="1026" name="Picture 2" descr="Help port Python packages to Python 3 - Fedora Magaz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000" y="3694536"/>
            <a:ext cx="6804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82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PYTHON NEDİR?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</a:t>
            </a:r>
            <a:r>
              <a:rPr lang="tr-TR" dirty="0" smtClean="0"/>
              <a:t>, 1, 2 ve 3 sürümleri ile ön plana çıkar günümüzde 1 ve 2 sürümüne verilen destek sonlanmıştır; ancak halen bazı uygulamalarda kullanılabilmektedir. Özellikle 3 sürümü günümüzde kullanılır.</a:t>
            </a:r>
            <a:endParaRPr lang="tr-TR" dirty="0"/>
          </a:p>
        </p:txBody>
      </p:sp>
      <p:pic>
        <p:nvPicPr>
          <p:cNvPr id="1026" name="Picture 2" descr="Help port Python packages to Python 3 - Fedora Magaz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000" y="3694536"/>
            <a:ext cx="6804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65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PYTHON NEDİR?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Python</a:t>
            </a:r>
            <a:r>
              <a:rPr lang="tr-TR" dirty="0"/>
              <a:t>, </a:t>
            </a:r>
            <a:r>
              <a:rPr lang="tr-TR" b="1" dirty="0"/>
              <a:t>yorumlanan bir dildir</a:t>
            </a:r>
            <a:r>
              <a:rPr lang="tr-TR" dirty="0"/>
              <a:t>. Bu, </a:t>
            </a:r>
            <a:r>
              <a:rPr lang="tr-TR" dirty="0" err="1"/>
              <a:t>Python</a:t>
            </a:r>
            <a:r>
              <a:rPr lang="tr-TR" dirty="0"/>
              <a:t> kodlarının doğrudan makine diline derlenmeden, bir yorumlayıcı tarafından satır </a:t>
            </a:r>
            <a:r>
              <a:rPr lang="tr-TR" dirty="0" err="1"/>
              <a:t>satır</a:t>
            </a:r>
            <a:r>
              <a:rPr lang="tr-TR" dirty="0"/>
              <a:t> çalıştırıldığı anlamına </a:t>
            </a:r>
            <a:r>
              <a:rPr lang="tr-TR" dirty="0" smtClean="0"/>
              <a:t>gelir. </a:t>
            </a:r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kodları, çalıştırılmadan önce ara bir adımda </a:t>
            </a:r>
            <a:r>
              <a:rPr lang="tr-TR" b="1" dirty="0" err="1"/>
              <a:t>bytecode</a:t>
            </a:r>
            <a:r>
              <a:rPr lang="tr-TR" dirty="0" err="1"/>
              <a:t>'a</a:t>
            </a:r>
            <a:r>
              <a:rPr lang="tr-TR" dirty="0"/>
              <a:t> derlenir.</a:t>
            </a:r>
          </a:p>
        </p:txBody>
      </p:sp>
    </p:spTree>
    <p:extLst>
      <p:ext uri="{BB962C8B-B14F-4D97-AF65-F5344CB8AC3E}">
        <p14:creationId xmlns:p14="http://schemas.microsoft.com/office/powerpoint/2010/main" val="16549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DERLENEN VE YORUMLANAN DİLLER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624790"/>
              </p:ext>
            </p:extLst>
          </p:nvPr>
        </p:nvGraphicFramePr>
        <p:xfrm>
          <a:off x="609600" y="2249488"/>
          <a:ext cx="10972800" cy="3032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67109953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62148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Derleyici(Compiler) Kullanan Diller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Yorumlayıcı(Interpreter) Kullanan Diller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52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Kod, çalıştırılmadan önce makine diline derlenir.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Kod, satır </a:t>
                      </a:r>
                      <a:r>
                        <a:rPr lang="tr-TR" dirty="0" err="1" smtClean="0"/>
                        <a:t>satır</a:t>
                      </a:r>
                      <a:r>
                        <a:rPr lang="tr-TR" dirty="0" smtClean="0"/>
                        <a:t> yorumlayıcı tarafından çalıştırılır.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7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Genellikle daha hızlı çalışır çünkü kod doğrudan makine diline derlenir.	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Genellikle daha yavaş çalışır çünkü kod satır </a:t>
                      </a:r>
                      <a:r>
                        <a:rPr lang="tr-TR" dirty="0" err="1" smtClean="0"/>
                        <a:t>satır</a:t>
                      </a:r>
                      <a:r>
                        <a:rPr lang="tr-TR" dirty="0" smtClean="0"/>
                        <a:t> yorumlanır.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4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Genellikle hata ayıklama</a:t>
                      </a:r>
                      <a:r>
                        <a:rPr lang="tr-TR" baseline="0" dirty="0" smtClean="0"/>
                        <a:t> daha zordur.</a:t>
                      </a:r>
                      <a:r>
                        <a:rPr lang="tr-TR" dirty="0" smtClean="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Genellikle hata ayıklama</a:t>
                      </a:r>
                      <a:r>
                        <a:rPr lang="tr-TR" baseline="0" dirty="0" smtClean="0"/>
                        <a:t> daha kolaydır.</a:t>
                      </a:r>
                      <a:r>
                        <a:rPr lang="tr-TR" dirty="0" smtClean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87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>
                          <a:effectLst/>
                        </a:rPr>
                        <a:t>Derlenmiş kod, genellikle okunamaz hale gelir. Bu, kod gizliliği sağlar.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Yorumlanan kod, genellikle kaynak kodu olarak kullanılır. Bu, kod gizliliğini zorlaştırır.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97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C, C++, Java gibi diller örnek olarak verilebilir.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 smtClean="0"/>
                        <a:t>Python</a:t>
                      </a:r>
                      <a:r>
                        <a:rPr lang="tr-TR" dirty="0" smtClean="0"/>
                        <a:t>,</a:t>
                      </a:r>
                      <a:r>
                        <a:rPr lang="tr-TR" baseline="0" dirty="0" smtClean="0"/>
                        <a:t> </a:t>
                      </a:r>
                      <a:r>
                        <a:rPr lang="tr-TR" baseline="0" dirty="0" err="1" smtClean="0"/>
                        <a:t>JavaScript</a:t>
                      </a:r>
                      <a:r>
                        <a:rPr lang="tr-TR" baseline="0" dirty="0" smtClean="0"/>
                        <a:t>, </a:t>
                      </a:r>
                      <a:r>
                        <a:rPr lang="tr-TR" baseline="0" dirty="0" err="1" smtClean="0"/>
                        <a:t>Ruby</a:t>
                      </a:r>
                      <a:r>
                        <a:rPr lang="tr-TR" baseline="0" dirty="0" smtClean="0"/>
                        <a:t> gibi diller örnek olarak verilebilir.</a:t>
                      </a:r>
                      <a:endParaRPr lang="tr-T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22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11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YORUM SATIRI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/>
              <a:t> </a:t>
            </a:r>
            <a:r>
              <a:rPr lang="tr-TR" dirty="0" smtClean="0"/>
              <a:t># işareti ile tek satırlık, ‘’’ ’’’ ile çok satırlık yorum satırı oluşturulabilir.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2982" y="3442484"/>
            <a:ext cx="2846036" cy="193899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Tek satırlık yorum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'''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Çok satırlık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yorum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'''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76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GİRDİ KODLARI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print</a:t>
            </a:r>
            <a:r>
              <a:rPr lang="tr-TR" dirty="0" smtClean="0"/>
              <a:t>() kodu ile ekrana yazı yazdırılabilir ve </a:t>
            </a:r>
            <a:r>
              <a:rPr lang="tr-TR" dirty="0" err="1" smtClean="0"/>
              <a:t>input</a:t>
            </a:r>
            <a:r>
              <a:rPr lang="tr-TR" dirty="0" smtClean="0"/>
              <a:t>() kodu ile kullanıcıdan değer alınabilir. </a:t>
            </a:r>
            <a:r>
              <a:rPr lang="tr-TR" dirty="0" err="1" smtClean="0"/>
              <a:t>input</a:t>
            </a:r>
            <a:r>
              <a:rPr lang="tr-TR" dirty="0" smtClean="0"/>
              <a:t>() kodu varsayılan olarak </a:t>
            </a:r>
            <a:r>
              <a:rPr lang="tr-TR" dirty="0" err="1" smtClean="0"/>
              <a:t>String</a:t>
            </a:r>
            <a:r>
              <a:rPr lang="tr-TR" dirty="0" smtClean="0"/>
              <a:t> tipte değer döndürür!</a:t>
            </a:r>
          </a:p>
          <a:p>
            <a:pPr marL="109728" indent="0" algn="just">
              <a:buNone/>
            </a:pP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59701" y="3615746"/>
            <a:ext cx="5272597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"Merhaba"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"Lütfen isminizi giriniz..:"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7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DEĞİŞKEN TANIMLAMA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‘</a:t>
            </a:r>
            <a:r>
              <a:rPr lang="tr-TR" dirty="0" err="1" smtClean="0"/>
              <a:t>degiskenAdi</a:t>
            </a:r>
            <a:r>
              <a:rPr lang="tr-TR" dirty="0" smtClean="0"/>
              <a:t> = </a:t>
            </a:r>
            <a:r>
              <a:rPr lang="tr-TR" dirty="0" err="1" smtClean="0"/>
              <a:t>deger</a:t>
            </a:r>
            <a:r>
              <a:rPr lang="tr-TR" dirty="0" smtClean="0"/>
              <a:t>’ şeklinde doğrudan değişken tanımlaması yapılabilir. Kodların sonuna herhangi bir ‘;’ koyulmaz!</a:t>
            </a:r>
            <a:endParaRPr lang="tr-TR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82194" y="3627150"/>
            <a:ext cx="6027612" cy="156966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degisken1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tamsayı tanimlama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degisken2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5.6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ondalikli sayi tanimlama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degisken3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True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mantiksal tanimlama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degisken4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metinsel tanimlama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1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DEĞİŞKEN TANIMLAMA STANDARTLARI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Genelde değişkene isim verilirken 3 temel yaklaşım kullanılır. Bunlar </a:t>
            </a:r>
            <a:r>
              <a:rPr lang="tr-TR" dirty="0" err="1" smtClean="0"/>
              <a:t>camelCase</a:t>
            </a:r>
            <a:r>
              <a:rPr lang="tr-TR" dirty="0" smtClean="0"/>
              <a:t>, </a:t>
            </a:r>
            <a:r>
              <a:rPr lang="tr-TR" dirty="0" err="1" smtClean="0"/>
              <a:t>snake_case</a:t>
            </a:r>
            <a:r>
              <a:rPr lang="tr-TR" dirty="0" smtClean="0"/>
              <a:t> ve </a:t>
            </a:r>
            <a:r>
              <a:rPr lang="tr-TR" dirty="0" err="1" smtClean="0"/>
              <a:t>PascalCase</a:t>
            </a:r>
            <a:r>
              <a:rPr lang="tr-TR" dirty="0" smtClean="0"/>
              <a:t>  olarak kullanılır.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34910" y="3312412"/>
            <a:ext cx="6322180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birinciDegiskeninDegeri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camelCase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BirinciDegiskeninDegeri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PascalCase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birinci_degiskenin_degeri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snake_case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60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DEĞİŞKEN İSİMLENDİRME KURALLARI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‘_’ harici özel karakterler değişken isminde kullanılamaz.</a:t>
            </a:r>
          </a:p>
          <a:p>
            <a:pPr algn="just"/>
            <a:r>
              <a:rPr lang="tr-TR" dirty="0" smtClean="0"/>
              <a:t>Değişken adi sayı ile başlayamaz.</a:t>
            </a:r>
          </a:p>
          <a:p>
            <a:pPr algn="just"/>
            <a:r>
              <a:rPr lang="tr-TR" dirty="0" err="1" smtClean="0"/>
              <a:t>Python’a</a:t>
            </a:r>
            <a:r>
              <a:rPr lang="tr-TR" dirty="0" smtClean="0"/>
              <a:t> özgü isimler değişken adı olarak kullanılamaz.</a:t>
            </a:r>
          </a:p>
          <a:p>
            <a:pPr algn="just"/>
            <a:r>
              <a:rPr lang="tr-TR" dirty="0" err="1" smtClean="0"/>
              <a:t>Python</a:t>
            </a:r>
            <a:r>
              <a:rPr lang="tr-TR" dirty="0" smtClean="0"/>
              <a:t> büyük küçük harf duyarlı bir dildir.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262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DEĞİŞKEN TİPİ ÖĞRENME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‘</a:t>
            </a:r>
            <a:r>
              <a:rPr lang="tr-TR" dirty="0" err="1" smtClean="0"/>
              <a:t>type</a:t>
            </a:r>
            <a:r>
              <a:rPr lang="tr-TR" dirty="0" smtClean="0"/>
              <a:t>(</a:t>
            </a:r>
            <a:r>
              <a:rPr lang="tr-TR" dirty="0" err="1" smtClean="0"/>
              <a:t>degisken_adi</a:t>
            </a:r>
            <a:r>
              <a:rPr lang="tr-TR" dirty="0" smtClean="0"/>
              <a:t>)’ kodu ile ilgili değişkenin tipi öğrenilebilir.</a:t>
            </a:r>
            <a:endParaRPr lang="tr-T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839085" y="2969541"/>
            <a:ext cx="2513830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plaka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(plaka))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465314" y="4042648"/>
            <a:ext cx="1261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&lt;</a:t>
            </a:r>
            <a:r>
              <a:rPr lang="tr-TR" dirty="0" err="1"/>
              <a:t>class</a:t>
            </a:r>
            <a:r>
              <a:rPr lang="tr-TR" dirty="0"/>
              <a:t> '</a:t>
            </a:r>
            <a:r>
              <a:rPr lang="tr-TR" dirty="0" err="1"/>
              <a:t>int</a:t>
            </a:r>
            <a:r>
              <a:rPr lang="tr-TR" dirty="0"/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116532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TİP DÖNÜŞÜMÜ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tip dönüşümü uygulamak için ilgili değişken adı dönüştürülmek istenen </a:t>
            </a:r>
            <a:r>
              <a:rPr lang="tr-TR" dirty="0" err="1" smtClean="0"/>
              <a:t>class</a:t>
            </a:r>
            <a:r>
              <a:rPr lang="tr-TR" dirty="0" smtClean="0"/>
              <a:t> adı ile sarmalanır.  4 temel </a:t>
            </a:r>
            <a:r>
              <a:rPr lang="tr-TR" dirty="0" err="1" smtClean="0"/>
              <a:t>class</a:t>
            </a:r>
            <a:r>
              <a:rPr lang="tr-TR" dirty="0" smtClean="0"/>
              <a:t> </a:t>
            </a:r>
            <a:r>
              <a:rPr lang="tr-TR" dirty="0" err="1" smtClean="0"/>
              <a:t>şunlardır:int</a:t>
            </a:r>
            <a:r>
              <a:rPr lang="tr-TR" dirty="0" smtClean="0"/>
              <a:t>(), </a:t>
            </a:r>
            <a:r>
              <a:rPr lang="tr-TR" dirty="0" err="1" smtClean="0"/>
              <a:t>str</a:t>
            </a:r>
            <a:r>
              <a:rPr lang="tr-TR" dirty="0" smtClean="0"/>
              <a:t>(), </a:t>
            </a:r>
            <a:r>
              <a:rPr lang="tr-TR" dirty="0" err="1" smtClean="0"/>
              <a:t>float</a:t>
            </a:r>
            <a:r>
              <a:rPr lang="tr-TR" dirty="0" smtClean="0"/>
              <a:t>(), </a:t>
            </a:r>
            <a:r>
              <a:rPr lang="tr-TR" dirty="0" err="1" smtClean="0"/>
              <a:t>bool</a:t>
            </a:r>
            <a:r>
              <a:rPr lang="tr-TR" dirty="0" smtClean="0"/>
              <a:t>()</a:t>
            </a:r>
          </a:p>
          <a:p>
            <a:pPr algn="just"/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270019" y="3883941"/>
            <a:ext cx="3651962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str_deger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"15"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int_deger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str_deger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50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F-</a:t>
            </a:r>
            <a:r>
              <a:rPr lang="tr-TR" dirty="0" err="1" smtClean="0"/>
              <a:t>string</a:t>
            </a:r>
            <a:r>
              <a:rPr lang="tr-TR" dirty="0" smtClean="0"/>
              <a:t> Kullanımı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değişkenleri f-</a:t>
            </a:r>
            <a:r>
              <a:rPr lang="tr-TR" dirty="0" err="1" smtClean="0"/>
              <a:t>string</a:t>
            </a:r>
            <a:r>
              <a:rPr lang="tr-TR" dirty="0" smtClean="0"/>
              <a:t> kullanımı ile doğrudan içeride yazdırabilirsiniz.</a:t>
            </a:r>
          </a:p>
          <a:p>
            <a:pPr algn="just"/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346689" y="3294828"/>
            <a:ext cx="5498621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"Zafer"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yas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29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f"İsminiz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: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ve yaşınız: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yas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9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String</a:t>
            </a:r>
            <a:r>
              <a:rPr lang="tr-TR" dirty="0" smtClean="0"/>
              <a:t> İşlemleri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Pyton’da</a:t>
            </a:r>
            <a:r>
              <a:rPr lang="tr-TR" dirty="0" smtClean="0"/>
              <a:t> bir </a:t>
            </a:r>
            <a:r>
              <a:rPr lang="tr-TR" dirty="0" err="1" smtClean="0"/>
              <a:t>string</a:t>
            </a:r>
            <a:r>
              <a:rPr lang="tr-TR" dirty="0" smtClean="0"/>
              <a:t> ifade içerisindeki karakterlere indisleri ile ulaşılabilir. Bu </a:t>
            </a:r>
            <a:r>
              <a:rPr lang="tr-TR" dirty="0" err="1" smtClean="0"/>
              <a:t>indisleme</a:t>
            </a:r>
            <a:r>
              <a:rPr lang="tr-TR" dirty="0" smtClean="0"/>
              <a:t> aşağıda gösterildiği gibi olur.</a:t>
            </a:r>
          </a:p>
          <a:p>
            <a:pPr algn="just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962" y="3334536"/>
            <a:ext cx="605607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String</a:t>
            </a:r>
            <a:r>
              <a:rPr lang="tr-TR" dirty="0" smtClean="0"/>
              <a:t> İşlemleri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Pyton’da</a:t>
            </a:r>
            <a:r>
              <a:rPr lang="tr-TR" dirty="0"/>
              <a:t> bir </a:t>
            </a:r>
            <a:r>
              <a:rPr lang="tr-TR" dirty="0" err="1"/>
              <a:t>string</a:t>
            </a:r>
            <a:r>
              <a:rPr lang="tr-TR" dirty="0"/>
              <a:t> ifade içerisindeki karakterlere indisleri ile ulaşılabilir. </a:t>
            </a:r>
            <a:r>
              <a:rPr lang="tr-TR" dirty="0" smtClean="0"/>
              <a:t>Aşağıda gösterildiği gibi bu indislere ulaşılabilir.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44562" y="3811815"/>
            <a:ext cx="2018501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"Zafer"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(isim[-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0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String</a:t>
            </a:r>
            <a:r>
              <a:rPr lang="tr-TR" dirty="0" smtClean="0"/>
              <a:t> Bölme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Pyton’da</a:t>
            </a:r>
            <a:r>
              <a:rPr lang="tr-TR" dirty="0"/>
              <a:t> bir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smtClean="0"/>
              <a:t>ifadeyi bölmek için şu ifade kullanılabilir: ‘</a:t>
            </a:r>
            <a:r>
              <a:rPr lang="tr-TR" dirty="0" err="1" smtClean="0"/>
              <a:t>degisken_adi</a:t>
            </a:r>
            <a:r>
              <a:rPr lang="tr-TR" dirty="0" smtClean="0"/>
              <a:t>[</a:t>
            </a:r>
            <a:r>
              <a:rPr lang="tr-TR" dirty="0" err="1" smtClean="0"/>
              <a:t>baslangic_indisi:bitis_indisi:artim_miktari</a:t>
            </a:r>
            <a:r>
              <a:rPr lang="tr-TR" dirty="0" smtClean="0"/>
              <a:t>]’. Burada bitiş indisinin ifadeye dahil olmayacağı unutulmamalıdır!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899999" y="3655340"/>
            <a:ext cx="239200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"Zafer"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883536" y="4525961"/>
            <a:ext cx="42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af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10432" y="4987626"/>
            <a:ext cx="5771132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"Bilecik Şeyh Edebali Üniversitesi"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22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5662225" y="5965747"/>
            <a:ext cx="867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 err="1"/>
              <a:t>iŞhda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57213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String</a:t>
            </a:r>
            <a:r>
              <a:rPr lang="tr-TR" dirty="0" smtClean="0"/>
              <a:t> Bölme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Pyton’da</a:t>
            </a:r>
            <a:r>
              <a:rPr lang="tr-TR" dirty="0"/>
              <a:t> bir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smtClean="0"/>
              <a:t>ifadeyi bölmek için şu ifade kullanılabilir: ‘</a:t>
            </a:r>
            <a:r>
              <a:rPr lang="tr-TR" dirty="0" err="1" smtClean="0"/>
              <a:t>degisken_adi</a:t>
            </a:r>
            <a:r>
              <a:rPr lang="tr-TR" dirty="0" smtClean="0"/>
              <a:t>[</a:t>
            </a:r>
            <a:r>
              <a:rPr lang="tr-TR" dirty="0" err="1" smtClean="0"/>
              <a:t>baslangic_indisi:bitis_indisi:artim_miktari</a:t>
            </a:r>
            <a:r>
              <a:rPr lang="tr-TR" dirty="0" smtClean="0"/>
              <a:t>]’. Burada bitiş indisinin ifadeye dahil olmayacağı unutulmamalıdır!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10432" y="3655340"/>
            <a:ext cx="5771132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"Bilecik Şeyh Edebali Üniversitesi"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(isim[-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:-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5696850" y="4668688"/>
            <a:ext cx="7982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l </a:t>
            </a:r>
            <a:r>
              <a:rPr lang="tr-TR" sz="2400" dirty="0" err="1"/>
              <a:t>nvri</a:t>
            </a:r>
            <a:endParaRPr lang="tr-TR" sz="2400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210431" y="5169977"/>
            <a:ext cx="5771132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"Bilecik Şeyh Edebali Üniversitesi"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(isim[::-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017062" y="6204046"/>
            <a:ext cx="4157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 err="1"/>
              <a:t>isetisrevinÜ</a:t>
            </a:r>
            <a:r>
              <a:rPr lang="tr-TR" sz="2400" dirty="0"/>
              <a:t> </a:t>
            </a:r>
            <a:r>
              <a:rPr lang="tr-TR" sz="2400" dirty="0" err="1"/>
              <a:t>ilabedE</a:t>
            </a:r>
            <a:r>
              <a:rPr lang="tr-TR" sz="2400" dirty="0"/>
              <a:t> </a:t>
            </a:r>
            <a:r>
              <a:rPr lang="tr-TR" sz="2400" dirty="0" err="1"/>
              <a:t>hyeŞ</a:t>
            </a:r>
            <a:r>
              <a:rPr lang="tr-TR" sz="2400" dirty="0"/>
              <a:t> </a:t>
            </a:r>
            <a:r>
              <a:rPr lang="tr-TR" sz="2400" dirty="0" err="1"/>
              <a:t>kiceliB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52377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String</a:t>
            </a:r>
            <a:r>
              <a:rPr lang="tr-TR" dirty="0" smtClean="0"/>
              <a:t> Uzunluğu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/>
              <a:t>l</a:t>
            </a:r>
            <a:r>
              <a:rPr lang="tr-TR" dirty="0" err="1" smtClean="0"/>
              <a:t>en</a:t>
            </a:r>
            <a:r>
              <a:rPr lang="tr-TR" dirty="0" smtClean="0"/>
              <a:t>() kodu ile bir </a:t>
            </a:r>
            <a:r>
              <a:rPr lang="tr-TR" dirty="0" err="1" smtClean="0"/>
              <a:t>stringin</a:t>
            </a:r>
            <a:r>
              <a:rPr lang="tr-TR" dirty="0" smtClean="0"/>
              <a:t> uzunluğu elde edilebilir.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10434" y="2811278"/>
            <a:ext cx="5771132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"Bilecik Şeyh Edebali Üniversitesi"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(isim))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848175" y="3808475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8981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 </a:t>
            </a:r>
            <a:r>
              <a:rPr lang="tr-TR" dirty="0" err="1" smtClean="0"/>
              <a:t>String</a:t>
            </a:r>
            <a:r>
              <a:rPr lang="tr-TR" dirty="0" smtClean="0"/>
              <a:t> Metotları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sz="2000" dirty="0" err="1"/>
              <a:t>u</a:t>
            </a:r>
            <a:r>
              <a:rPr lang="tr-TR" sz="2000" dirty="0" err="1" smtClean="0"/>
              <a:t>pper</a:t>
            </a:r>
            <a:r>
              <a:rPr lang="tr-TR" sz="2000" dirty="0" smtClean="0"/>
              <a:t>(): Tüm </a:t>
            </a:r>
            <a:r>
              <a:rPr lang="tr-TR" sz="2000" dirty="0" err="1" smtClean="0"/>
              <a:t>stringi</a:t>
            </a:r>
            <a:r>
              <a:rPr lang="tr-TR" sz="2000" dirty="0" smtClean="0"/>
              <a:t> büyük harfe çevirir.</a:t>
            </a:r>
          </a:p>
          <a:p>
            <a:pPr algn="just"/>
            <a:r>
              <a:rPr lang="tr-TR" sz="2000" dirty="0" err="1"/>
              <a:t>l</a:t>
            </a:r>
            <a:r>
              <a:rPr lang="tr-TR" sz="2000" dirty="0" err="1" smtClean="0"/>
              <a:t>ower</a:t>
            </a:r>
            <a:r>
              <a:rPr lang="tr-TR" sz="2000" dirty="0" smtClean="0"/>
              <a:t>(): Tüm </a:t>
            </a:r>
            <a:r>
              <a:rPr lang="tr-TR" sz="2000" dirty="0" err="1" smtClean="0"/>
              <a:t>stringi</a:t>
            </a:r>
            <a:r>
              <a:rPr lang="tr-TR" sz="2000" dirty="0" smtClean="0"/>
              <a:t> küçük harfe çevirir.</a:t>
            </a:r>
          </a:p>
          <a:p>
            <a:pPr algn="just"/>
            <a:r>
              <a:rPr lang="tr-TR" sz="2000" dirty="0" err="1"/>
              <a:t>t</a:t>
            </a:r>
            <a:r>
              <a:rPr lang="tr-TR" sz="2000" dirty="0" err="1" smtClean="0"/>
              <a:t>itle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</a:t>
            </a:r>
            <a:r>
              <a:rPr lang="tr-TR" sz="2000" dirty="0" smtClean="0"/>
              <a:t> ifadedeki kelimelerin ilk harflerini büyük yapar.</a:t>
            </a:r>
          </a:p>
          <a:p>
            <a:pPr algn="just"/>
            <a:r>
              <a:rPr lang="tr-TR" sz="2000" dirty="0" err="1"/>
              <a:t>c</a:t>
            </a:r>
            <a:r>
              <a:rPr lang="tr-TR" sz="2000" dirty="0" err="1" smtClean="0"/>
              <a:t>apitalize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</a:t>
            </a:r>
            <a:r>
              <a:rPr lang="tr-TR" sz="2000" dirty="0" smtClean="0"/>
              <a:t> ifadenin sadece ilk harfini büyük harf yapar.</a:t>
            </a:r>
          </a:p>
          <a:p>
            <a:pPr algn="just"/>
            <a:r>
              <a:rPr lang="tr-TR" sz="2000" dirty="0" err="1"/>
              <a:t>i</a:t>
            </a:r>
            <a:r>
              <a:rPr lang="tr-TR" sz="2000" dirty="0" err="1" smtClean="0"/>
              <a:t>slower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Stringin</a:t>
            </a:r>
            <a:r>
              <a:rPr lang="tr-TR" sz="2000" dirty="0" smtClean="0"/>
              <a:t> tamamı küçük harfse </a:t>
            </a:r>
            <a:r>
              <a:rPr lang="tr-TR" sz="2000" dirty="0" err="1" smtClean="0"/>
              <a:t>true</a:t>
            </a:r>
            <a:r>
              <a:rPr lang="tr-TR" sz="2000" dirty="0" smtClean="0"/>
              <a:t> değilse </a:t>
            </a:r>
            <a:r>
              <a:rPr lang="tr-TR" sz="2000" dirty="0" err="1" smtClean="0"/>
              <a:t>false</a:t>
            </a:r>
            <a:r>
              <a:rPr lang="tr-TR" sz="2000" dirty="0" smtClean="0"/>
              <a:t> döner.</a:t>
            </a:r>
          </a:p>
          <a:p>
            <a:pPr algn="just"/>
            <a:r>
              <a:rPr lang="tr-TR" sz="2000" dirty="0" err="1"/>
              <a:t>i</a:t>
            </a:r>
            <a:r>
              <a:rPr lang="tr-TR" sz="2000" dirty="0" err="1" smtClean="0"/>
              <a:t>supper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Stringin</a:t>
            </a:r>
            <a:r>
              <a:rPr lang="tr-TR" sz="2000" dirty="0" smtClean="0"/>
              <a:t> tamamı büyük harfse </a:t>
            </a:r>
            <a:r>
              <a:rPr lang="tr-TR" sz="2000" dirty="0" err="1" smtClean="0"/>
              <a:t>true</a:t>
            </a:r>
            <a:r>
              <a:rPr lang="tr-TR" sz="2000" dirty="0" smtClean="0"/>
              <a:t> değilse </a:t>
            </a:r>
            <a:r>
              <a:rPr lang="tr-TR" sz="2000" dirty="0" err="1" smtClean="0"/>
              <a:t>false</a:t>
            </a:r>
            <a:r>
              <a:rPr lang="tr-TR" sz="2000" dirty="0" smtClean="0"/>
              <a:t> döner.</a:t>
            </a:r>
          </a:p>
          <a:p>
            <a:pPr algn="just"/>
            <a:r>
              <a:rPr lang="tr-TR" sz="2000" dirty="0" err="1"/>
              <a:t>s</a:t>
            </a:r>
            <a:r>
              <a:rPr lang="tr-TR" sz="2000" dirty="0" err="1" smtClean="0"/>
              <a:t>trip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Stringin</a:t>
            </a:r>
            <a:r>
              <a:rPr lang="tr-TR" sz="2000" dirty="0" smtClean="0"/>
              <a:t> başındaki ve sonundaki boşlukları siler.</a:t>
            </a:r>
          </a:p>
          <a:p>
            <a:pPr algn="just"/>
            <a:r>
              <a:rPr lang="tr-TR" sz="2000" dirty="0" err="1"/>
              <a:t>s</a:t>
            </a:r>
            <a:r>
              <a:rPr lang="tr-TR" sz="2000" dirty="0" err="1" smtClean="0"/>
              <a:t>plit</a:t>
            </a:r>
            <a:r>
              <a:rPr lang="tr-TR" sz="2000" dirty="0" smtClean="0"/>
              <a:t>(): Verilen parametreden </a:t>
            </a:r>
            <a:r>
              <a:rPr lang="tr-TR" sz="2000" dirty="0" err="1" smtClean="0"/>
              <a:t>stringi</a:t>
            </a:r>
            <a:r>
              <a:rPr lang="tr-TR" sz="2000" dirty="0" smtClean="0"/>
              <a:t> böler.</a:t>
            </a:r>
          </a:p>
          <a:p>
            <a:pPr algn="just"/>
            <a:r>
              <a:rPr lang="tr-TR" sz="2000" dirty="0" err="1"/>
              <a:t>i</a:t>
            </a:r>
            <a:r>
              <a:rPr lang="tr-TR" sz="2000" dirty="0" err="1" smtClean="0"/>
              <a:t>ndex</a:t>
            </a:r>
            <a:r>
              <a:rPr lang="tr-TR" sz="2000" dirty="0" smtClean="0"/>
              <a:t>(): Verilen parametrenin </a:t>
            </a:r>
            <a:r>
              <a:rPr lang="tr-TR" sz="2000" dirty="0" err="1" smtClean="0"/>
              <a:t>string</a:t>
            </a:r>
            <a:r>
              <a:rPr lang="tr-TR" sz="2000" dirty="0" smtClean="0"/>
              <a:t> ifadedeki indisini döner.</a:t>
            </a:r>
          </a:p>
          <a:p>
            <a:pPr algn="just"/>
            <a:r>
              <a:rPr lang="tr-TR" sz="2000" dirty="0" err="1"/>
              <a:t>s</a:t>
            </a:r>
            <a:r>
              <a:rPr lang="tr-TR" sz="2000" dirty="0" err="1" smtClean="0"/>
              <a:t>tartswith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</a:t>
            </a:r>
            <a:r>
              <a:rPr lang="tr-TR" sz="2000" dirty="0" smtClean="0"/>
              <a:t> ifade verilen parametre ile başlıyorsa </a:t>
            </a:r>
            <a:r>
              <a:rPr lang="tr-TR" sz="2000" dirty="0" err="1" smtClean="0"/>
              <a:t>true</a:t>
            </a:r>
            <a:r>
              <a:rPr lang="tr-TR" sz="2000" dirty="0" smtClean="0"/>
              <a:t> değilse </a:t>
            </a:r>
            <a:r>
              <a:rPr lang="tr-TR" sz="2000" dirty="0" err="1" smtClean="0"/>
              <a:t>false</a:t>
            </a:r>
            <a:r>
              <a:rPr lang="tr-TR" sz="2000" dirty="0" smtClean="0"/>
              <a:t> döner.</a:t>
            </a:r>
          </a:p>
          <a:p>
            <a:pPr algn="just"/>
            <a:r>
              <a:rPr lang="tr-TR" sz="2000" dirty="0" err="1" smtClean="0"/>
              <a:t>endswith</a:t>
            </a:r>
            <a:r>
              <a:rPr lang="tr-TR" sz="2000" dirty="0" smtClean="0"/>
              <a:t>(): </a:t>
            </a:r>
            <a:r>
              <a:rPr lang="tr-TR" sz="2000" dirty="0" err="1" smtClean="0"/>
              <a:t>string</a:t>
            </a:r>
            <a:r>
              <a:rPr lang="tr-TR" sz="2000" dirty="0" smtClean="0"/>
              <a:t> ifade verilen parametre ile bitiyorsa </a:t>
            </a:r>
            <a:r>
              <a:rPr lang="tr-TR" sz="2000" dirty="0" err="1" smtClean="0"/>
              <a:t>true</a:t>
            </a:r>
            <a:r>
              <a:rPr lang="tr-TR" sz="2000" dirty="0" smtClean="0"/>
              <a:t> değilse </a:t>
            </a:r>
            <a:r>
              <a:rPr lang="tr-TR" sz="2000" dirty="0" err="1" smtClean="0"/>
              <a:t>false</a:t>
            </a:r>
            <a:r>
              <a:rPr lang="tr-TR" sz="2000" dirty="0" smtClean="0"/>
              <a:t> döner.</a:t>
            </a:r>
          </a:p>
          <a:p>
            <a:pPr algn="just"/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61504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Python</a:t>
            </a:r>
            <a:r>
              <a:rPr lang="tr-TR" dirty="0" smtClean="0"/>
              <a:t> Operatörleri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806423"/>
              </p:ext>
            </p:extLst>
          </p:nvPr>
        </p:nvGraphicFramePr>
        <p:xfrm>
          <a:off x="609600" y="2249488"/>
          <a:ext cx="10972800" cy="222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82816078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834159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+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smtClean="0"/>
                        <a:t>Toplama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39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-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smtClean="0"/>
                        <a:t>Çıkarma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36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*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smtClean="0"/>
                        <a:t>Çarpma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32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/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smtClean="0"/>
                        <a:t>Bölme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601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%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err="1" smtClean="0"/>
                        <a:t>Mod</a:t>
                      </a:r>
                      <a:r>
                        <a:rPr lang="tr-TR" b="0" dirty="0" smtClean="0"/>
                        <a:t> alma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0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0" dirty="0" smtClean="0"/>
                        <a:t>**</a:t>
                      </a:r>
                      <a:endParaRPr lang="tr-T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 smtClean="0"/>
                        <a:t>Üs alma</a:t>
                      </a:r>
                      <a:endParaRPr lang="tr-T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185589"/>
                  </a:ext>
                </a:extLst>
              </a:tr>
            </a:tbl>
          </a:graphicData>
        </a:graphic>
      </p:graphicFrame>
      <p:sp>
        <p:nvSpPr>
          <p:cNvPr id="5" name="Metin kutusu 4"/>
          <p:cNvSpPr txBox="1"/>
          <p:nvPr/>
        </p:nvSpPr>
        <p:spPr>
          <a:xfrm>
            <a:off x="609600" y="4474528"/>
            <a:ext cx="447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Not: + operatörü </a:t>
            </a:r>
            <a:r>
              <a:rPr lang="tr-TR" dirty="0" err="1" smtClean="0"/>
              <a:t>stringlerde</a:t>
            </a:r>
            <a:r>
              <a:rPr lang="tr-TR" dirty="0" smtClean="0"/>
              <a:t> birleştirme yapar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1975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m</a:t>
            </a:r>
            <a:r>
              <a:rPr lang="tr-TR" dirty="0" err="1" smtClean="0"/>
              <a:t>ath</a:t>
            </a:r>
            <a:r>
              <a:rPr lang="tr-TR" dirty="0" smtClean="0"/>
              <a:t> Modülü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math</a:t>
            </a:r>
            <a:r>
              <a:rPr lang="tr-TR" dirty="0" smtClean="0"/>
              <a:t> modülü ile matematiksel işlemler yapılabilir</a:t>
            </a:r>
            <a:endParaRPr lang="tr-TR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488829" y="2820071"/>
            <a:ext cx="321434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math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(math.factorial(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21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Koşul Blokları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if</a:t>
            </a:r>
            <a:r>
              <a:rPr lang="tr-TR" dirty="0" smtClean="0"/>
              <a:t> – elif – else yapıları ile koşul blokları oluşturulabilir. </a:t>
            </a:r>
            <a:r>
              <a:rPr lang="tr-TR" dirty="0" err="1"/>
              <a:t>a</a:t>
            </a:r>
            <a:r>
              <a:rPr lang="tr-TR" dirty="0" err="1" smtClean="0"/>
              <a:t>nd</a:t>
            </a:r>
            <a:r>
              <a:rPr lang="tr-TR" dirty="0" smtClean="0"/>
              <a:t> ile ve işlemi </a:t>
            </a:r>
            <a:r>
              <a:rPr lang="tr-TR" dirty="0" err="1" smtClean="0"/>
              <a:t>or</a:t>
            </a:r>
            <a:r>
              <a:rPr lang="tr-TR" dirty="0" smtClean="0"/>
              <a:t> ile veya işlemi kullanılabilir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355698" y="3193440"/>
            <a:ext cx="5480603" cy="304698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deger1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"merhaba"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deger2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deger1 ==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"merhaba"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elif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deger1 ==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mrb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and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deger2 ==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slm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7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Döngüler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ve </a:t>
            </a:r>
            <a:r>
              <a:rPr lang="tr-TR" dirty="0" err="1" smtClean="0"/>
              <a:t>while</a:t>
            </a:r>
            <a:r>
              <a:rPr lang="tr-TR" dirty="0" smtClean="0"/>
              <a:t> döngüleri kullanılır. </a:t>
            </a:r>
            <a:r>
              <a:rPr lang="tr-TR" dirty="0" err="1"/>
              <a:t>f</a:t>
            </a:r>
            <a:r>
              <a:rPr lang="tr-TR" dirty="0" err="1" smtClean="0"/>
              <a:t>or</a:t>
            </a:r>
            <a:r>
              <a:rPr lang="tr-TR" dirty="0" smtClean="0"/>
              <a:t> döngüsü aşağıdaki gibi oluşturulabilir.</a:t>
            </a:r>
          </a:p>
          <a:p>
            <a:pPr algn="just"/>
            <a:endParaRPr lang="tr-TR" dirty="0"/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Bu </a:t>
            </a:r>
            <a:r>
              <a:rPr lang="tr-TR" dirty="0" err="1" smtClean="0"/>
              <a:t>for</a:t>
            </a:r>
            <a:r>
              <a:rPr lang="tr-TR" dirty="0" smtClean="0"/>
              <a:t> döngüsü [0-9] aralığını yazdırır. </a:t>
            </a:r>
            <a:r>
              <a:rPr lang="tr-TR" dirty="0" err="1"/>
              <a:t>r</a:t>
            </a:r>
            <a:r>
              <a:rPr lang="tr-TR" dirty="0" err="1" smtClean="0"/>
              <a:t>ange</a:t>
            </a:r>
            <a:r>
              <a:rPr lang="tr-TR" dirty="0" smtClean="0"/>
              <a:t>(</a:t>
            </a:r>
            <a:r>
              <a:rPr lang="tr-TR" dirty="0" err="1" smtClean="0"/>
              <a:t>baslangic</a:t>
            </a:r>
            <a:r>
              <a:rPr lang="tr-TR" dirty="0" smtClean="0"/>
              <a:t>, </a:t>
            </a:r>
            <a:r>
              <a:rPr lang="tr-TR" dirty="0" err="1" smtClean="0"/>
              <a:t>bitis</a:t>
            </a:r>
            <a:r>
              <a:rPr lang="tr-TR" dirty="0" smtClean="0"/>
              <a:t>, </a:t>
            </a:r>
            <a:r>
              <a:rPr lang="tr-TR" dirty="0" err="1" smtClean="0"/>
              <a:t>artim</a:t>
            </a:r>
            <a:r>
              <a:rPr lang="tr-TR" dirty="0" smtClean="0"/>
              <a:t>) şeklinde özelleştirilebilir. </a:t>
            </a:r>
            <a:r>
              <a:rPr lang="tr-TR" dirty="0" err="1" smtClean="0"/>
              <a:t>Bitisler</a:t>
            </a:r>
            <a:r>
              <a:rPr lang="tr-TR" dirty="0" smtClean="0"/>
              <a:t> dahil değildir!</a:t>
            </a:r>
          </a:p>
          <a:p>
            <a:pPr algn="just"/>
            <a:endParaRPr lang="tr-TR" dirty="0"/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Bu döngü 3 ten başlayıp 9’a kadar(10 dahil değil) 2 şer 2 şer yazar.</a:t>
            </a:r>
            <a:endParaRPr lang="tr-T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31070" y="3189348"/>
            <a:ext cx="2529860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89630" y="5070902"/>
            <a:ext cx="3212739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61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Döngüler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ve </a:t>
            </a:r>
            <a:r>
              <a:rPr lang="tr-TR" dirty="0" err="1" smtClean="0"/>
              <a:t>while</a:t>
            </a:r>
            <a:r>
              <a:rPr lang="tr-TR" dirty="0" smtClean="0"/>
              <a:t> döngüleri kullanılır. </a:t>
            </a:r>
            <a:r>
              <a:rPr lang="tr-TR" dirty="0" err="1" smtClean="0"/>
              <a:t>while</a:t>
            </a:r>
            <a:r>
              <a:rPr lang="tr-TR" dirty="0" smtClean="0"/>
              <a:t> döngüsü aşağıdaki gibi oluşturulabilir.</a:t>
            </a:r>
          </a:p>
          <a:p>
            <a:pPr algn="just"/>
            <a:endParaRPr lang="tr-TR" dirty="0"/>
          </a:p>
          <a:p>
            <a:pPr algn="just"/>
            <a:endParaRPr lang="tr-TR" dirty="0" smtClean="0"/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Bu </a:t>
            </a:r>
            <a:r>
              <a:rPr lang="tr-TR" dirty="0" err="1" smtClean="0"/>
              <a:t>while</a:t>
            </a:r>
            <a:r>
              <a:rPr lang="tr-TR" dirty="0" smtClean="0"/>
              <a:t> döngüsü [3-24] aralığını yazdırır. </a:t>
            </a:r>
            <a:r>
              <a:rPr lang="tr-TR" dirty="0" err="1" smtClean="0"/>
              <a:t>While</a:t>
            </a:r>
            <a:r>
              <a:rPr lang="tr-TR" dirty="0" smtClean="0"/>
              <a:t> döngüsü ile aşağıdaki gibi sonsuz döngü oluşturulabilir.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255476" y="3048292"/>
            <a:ext cx="2972289" cy="156966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&lt;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deger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82488" y="5536895"/>
            <a:ext cx="2318263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while True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"ornek"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9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1215</TotalTime>
  <Words>2090</Words>
  <Application>Microsoft Office PowerPoint</Application>
  <PresentationFormat>Geniş ekran</PresentationFormat>
  <Paragraphs>194</Paragraphs>
  <Slides>25</Slides>
  <Notes>25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1" baseType="lpstr">
      <vt:lpstr>Arial</vt:lpstr>
      <vt:lpstr>Calibri</vt:lpstr>
      <vt:lpstr>Georgia</vt:lpstr>
      <vt:lpstr>JetBrains Mono</vt:lpstr>
      <vt:lpstr>Wingdings 2</vt:lpstr>
      <vt:lpstr>Eğitim sunusu</vt:lpstr>
      <vt:lpstr>Paralel Hesaplama</vt:lpstr>
      <vt:lpstr>PYTHON NEDİR?</vt:lpstr>
      <vt:lpstr>PYTHON NEDİR?</vt:lpstr>
      <vt:lpstr>PYTHON NEDİR?</vt:lpstr>
      <vt:lpstr>PYTHON NEDİR?</vt:lpstr>
      <vt:lpstr>DERLENEN VE YORUMLANAN DİLLER</vt:lpstr>
      <vt:lpstr>YORUM SATIRI</vt:lpstr>
      <vt:lpstr>GİRDİ KODLARI</vt:lpstr>
      <vt:lpstr>DEĞİŞKEN TANIMLAMA</vt:lpstr>
      <vt:lpstr>DEĞİŞKEN TANIMLAMA STANDARTLARI</vt:lpstr>
      <vt:lpstr>DEĞİŞKEN İSİMLENDİRME KURALLARI</vt:lpstr>
      <vt:lpstr>DEĞİŞKEN TİPİ ÖĞRENME</vt:lpstr>
      <vt:lpstr>TİP DÖNÜŞÜMÜ</vt:lpstr>
      <vt:lpstr>F-string Kullanımı</vt:lpstr>
      <vt:lpstr>String İşlemleri</vt:lpstr>
      <vt:lpstr>String İşlemleri</vt:lpstr>
      <vt:lpstr>String Bölme</vt:lpstr>
      <vt:lpstr>String Bölme</vt:lpstr>
      <vt:lpstr>String Uzunluğu</vt:lpstr>
      <vt:lpstr>Önemli String Metotları</vt:lpstr>
      <vt:lpstr>Python Operatörleri</vt:lpstr>
      <vt:lpstr>math Modülü</vt:lpstr>
      <vt:lpstr>Koşul Blokları</vt:lpstr>
      <vt:lpstr>Döngüler</vt:lpstr>
      <vt:lpstr>Döngüler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159</cp:revision>
  <dcterms:created xsi:type="dcterms:W3CDTF">2023-12-09T09:03:26Z</dcterms:created>
  <dcterms:modified xsi:type="dcterms:W3CDTF">2024-09-30T13:32:05Z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