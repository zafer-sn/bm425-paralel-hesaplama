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7" r:id="rId3"/>
    <p:sldId id="286" r:id="rId5"/>
    <p:sldId id="287" r:id="rId6"/>
    <p:sldId id="288" r:id="rId7"/>
    <p:sldId id="297" r:id="rId8"/>
    <p:sldId id="289" r:id="rId9"/>
    <p:sldId id="313" r:id="rId10"/>
    <p:sldId id="316" r:id="rId11"/>
    <p:sldId id="315" r:id="rId12"/>
    <p:sldId id="314" r:id="rId13"/>
    <p:sldId id="317" r:id="rId14"/>
    <p:sldId id="318" r:id="rId1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 hasCustomPrompt="1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 hasCustomPrompt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 hasCustomPrompt="1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 hasCustomPrompt="1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 hasCustomPrompt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 hasCustomPrompt="1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 eaLnBrk="1" latinLnBrk="0" hangingPunct="1"/>
            <a:r>
              <a:rPr lang="tr-TR" noProof="0" dirty="0"/>
              <a:t>İkinci düzey</a:t>
            </a:r>
            <a:endParaRPr lang="tr-TR" noProof="0" dirty="0"/>
          </a:p>
          <a:p>
            <a:pPr lvl="2" rtl="0" eaLnBrk="1" latinLnBrk="0" hangingPunct="1"/>
            <a:r>
              <a:rPr lang="tr-TR" noProof="0" dirty="0"/>
              <a:t>Üçüncü düzey</a:t>
            </a:r>
            <a:endParaRPr lang="tr-TR" noProof="0" dirty="0"/>
          </a:p>
          <a:p>
            <a:pPr lvl="3" rtl="0" eaLnBrk="1" latinLnBrk="0" hangingPunct="1"/>
            <a:r>
              <a:rPr lang="tr-TR" noProof="0" dirty="0"/>
              <a:t>Dördüncü düzey</a:t>
            </a:r>
            <a:endParaRPr lang="tr-TR" noProof="0" dirty="0"/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  <a:endParaRPr lang="tr-TR" noProof="0" dirty="0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 panose="02040502050405020303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 panose="02040502050405020303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Hata Ay</a:t>
            </a:r>
            <a:r>
              <a:rPr lang="en-US" altLang="en-US" dirty="0"/>
              <a:t>ı</a:t>
            </a:r>
            <a:r>
              <a:rPr lang="en-US" altLang="en-US" dirty="0"/>
              <a:t>klama i</a:t>
            </a:r>
            <a:r>
              <a:rPr lang="en-US" altLang="en-US" dirty="0"/>
              <a:t>ç</a:t>
            </a:r>
            <a:r>
              <a:rPr lang="en-US" altLang="en-US" dirty="0"/>
              <a:t>in Thread Bilgileri ve Yönetimi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t.name özelli</a:t>
            </a:r>
            <a:r>
              <a:rPr lang="en-US" altLang="en-US" dirty="0"/>
              <a:t>ğ</a:t>
            </a:r>
            <a:r>
              <a:rPr lang="en-US" altLang="en-US" dirty="0"/>
              <a:t>i ile Thread'lere anlaml</a:t>
            </a:r>
            <a:r>
              <a:rPr lang="en-US" altLang="en-US" dirty="0"/>
              <a:t>ı</a:t>
            </a:r>
            <a:r>
              <a:rPr lang="en-US" altLang="en-US" dirty="0"/>
              <a:t> isimler vermek, log takibi ve hata ay</a:t>
            </a:r>
            <a:r>
              <a:rPr lang="en-US" altLang="en-US" dirty="0"/>
              <a:t>ı</a:t>
            </a:r>
            <a:r>
              <a:rPr lang="en-US" altLang="en-US" dirty="0"/>
              <a:t>klamay</a:t>
            </a:r>
            <a:r>
              <a:rPr lang="en-US" altLang="en-US" dirty="0"/>
              <a:t>ı</a:t>
            </a:r>
            <a:r>
              <a:rPr lang="en-US" altLang="en-US" dirty="0"/>
              <a:t> kolayla</a:t>
            </a:r>
            <a:r>
              <a:rPr lang="en-US" altLang="en-US" dirty="0"/>
              <a:t>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en-US" altLang="en-US" dirty="0"/>
              <a:t>threading.current_thread(): </a:t>
            </a:r>
            <a:r>
              <a:rPr lang="en-US" altLang="en-US" dirty="0"/>
              <a:t>Ş</a:t>
            </a:r>
            <a:r>
              <a:rPr lang="en-US" altLang="en-US" dirty="0"/>
              <a:t>u anda kodu yürüten Thread nesnesini döndürür.</a:t>
            </a:r>
            <a:endParaRPr lang="en-US" altLang="en-US" dirty="0"/>
          </a:p>
          <a:p>
            <a:r>
              <a:rPr lang="en-US" altLang="en-US" dirty="0"/>
              <a:t>threading.active_count(): Yorumlay</a:t>
            </a:r>
            <a:r>
              <a:rPr lang="en-US" altLang="en-US" dirty="0"/>
              <a:t>ı</a:t>
            </a:r>
            <a:r>
              <a:rPr lang="en-US" altLang="en-US" dirty="0"/>
              <a:t>c</a:t>
            </a:r>
            <a:r>
              <a:rPr lang="en-US" altLang="en-US" dirty="0"/>
              <a:t>ı</a:t>
            </a:r>
            <a:r>
              <a:rPr lang="en-US" altLang="en-US" dirty="0"/>
              <a:t> i</a:t>
            </a:r>
            <a:r>
              <a:rPr lang="en-US" altLang="en-US" dirty="0"/>
              <a:t>ç</a:t>
            </a:r>
            <a:r>
              <a:rPr lang="en-US" altLang="en-US" dirty="0"/>
              <a:t>inde </a:t>
            </a:r>
            <a:r>
              <a:rPr lang="en-US" altLang="en-US" dirty="0"/>
              <a:t>ş</a:t>
            </a:r>
            <a:r>
              <a:rPr lang="en-US" altLang="en-US" dirty="0"/>
              <a:t>u anda aktif olan (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an veya beklemede olan) tüm Thread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verir.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Aktif Thread'leri Listeleme: enumerate()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Ş</a:t>
            </a:r>
            <a:r>
              <a:rPr lang="en-US" altLang="en-US" dirty="0"/>
              <a:t>u anda aktif durumda olan tüm Thread nesnelerinin bir listesini döndürür.</a:t>
            </a:r>
            <a:endParaRPr lang="en-US" altLang="en-US" dirty="0"/>
          </a:p>
          <a:p>
            <a:r>
              <a:rPr lang="en-US" altLang="en-US" dirty="0"/>
              <a:t>Hata ay</a:t>
            </a:r>
            <a:r>
              <a:rPr lang="en-US" altLang="en-US" dirty="0"/>
              <a:t>ı</a:t>
            </a:r>
            <a:r>
              <a:rPr lang="en-US" altLang="en-US" dirty="0"/>
              <a:t>klama veya bir uygulaman</a:t>
            </a:r>
            <a:r>
              <a:rPr lang="en-US" altLang="en-US" dirty="0"/>
              <a:t>ı</a:t>
            </a:r>
            <a:r>
              <a:rPr lang="en-US" altLang="en-US" dirty="0"/>
              <a:t>n o anda hangi Thread'leri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rd</a:t>
            </a:r>
            <a:r>
              <a:rPr lang="en-US" altLang="en-US" dirty="0"/>
              <a:t>ığı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kontrol etmek i</a:t>
            </a:r>
            <a:r>
              <a:rPr lang="en-US" altLang="en-US" dirty="0"/>
              <a:t>ç</a:t>
            </a:r>
            <a:r>
              <a:rPr lang="en-US" altLang="en-US" dirty="0"/>
              <a:t>in kullan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Thread'in Canl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k Durumunu Kontrol Etmek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Thread'in ba</a:t>
            </a:r>
            <a:r>
              <a:rPr lang="en-US" altLang="en-US" dirty="0"/>
              <a:t>ş</a:t>
            </a:r>
            <a:r>
              <a:rPr lang="en-US" altLang="en-US" dirty="0"/>
              <a:t>lat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p ba</a:t>
            </a:r>
            <a:r>
              <a:rPr lang="en-US" altLang="en-US" dirty="0"/>
              <a:t>ş</a:t>
            </a:r>
            <a:r>
              <a:rPr lang="en-US" altLang="en-US" dirty="0"/>
              <a:t>lat</a:t>
            </a:r>
            <a:r>
              <a:rPr lang="en-US" altLang="en-US" dirty="0"/>
              <a:t>ı</a:t>
            </a:r>
            <a:r>
              <a:rPr lang="en-US" altLang="en-US" dirty="0"/>
              <a:t>lmad</a:t>
            </a:r>
            <a:r>
              <a:rPr lang="en-US" altLang="en-US" dirty="0"/>
              <a:t>ığı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ve i</a:t>
            </a:r>
            <a:r>
              <a:rPr lang="en-US" altLang="en-US" dirty="0"/>
              <a:t>ş</a:t>
            </a:r>
            <a:r>
              <a:rPr lang="en-US" altLang="en-US" dirty="0"/>
              <a:t>ini bitirip bitirmedi</a:t>
            </a:r>
            <a:r>
              <a:rPr lang="en-US" altLang="en-US" dirty="0"/>
              <a:t>ğ</a:t>
            </a:r>
            <a:r>
              <a:rPr lang="en-US" altLang="en-US" dirty="0"/>
              <a:t>ini kontrol eder.</a:t>
            </a:r>
            <a:endParaRPr lang="en-US" altLang="en-US" dirty="0"/>
          </a:p>
          <a:p>
            <a:r>
              <a:rPr lang="en-US" altLang="en-US" dirty="0"/>
              <a:t>E</a:t>
            </a:r>
            <a:r>
              <a:rPr lang="en-US" altLang="en-US" dirty="0"/>
              <a:t>ğer Thread, start()</a:t>
            </a:r>
            <a:r>
              <a:rPr lang="tr-TR" altLang="en-US" dirty="0"/>
              <a:t> ile</a:t>
            </a:r>
            <a:r>
              <a:rPr lang="en-US" altLang="en-US" dirty="0"/>
              <a:t>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lm</a:t>
            </a:r>
            <a:r>
              <a:rPr lang="en-US" altLang="en-US" dirty="0"/>
              <a:t>ış</a:t>
            </a:r>
            <a:r>
              <a:rPr lang="en-US" altLang="en-US" dirty="0"/>
              <a:t> ve henüz Terminated durumuna ge</a:t>
            </a:r>
            <a:r>
              <a:rPr lang="en-US" altLang="en-US" dirty="0"/>
              <a:t>ç</a:t>
            </a:r>
            <a:r>
              <a:rPr lang="en-US" altLang="en-US" dirty="0"/>
              <a:t>memi</a:t>
            </a:r>
            <a:r>
              <a:rPr lang="en-US" altLang="en-US" dirty="0"/>
              <a:t>ş</a:t>
            </a:r>
            <a:r>
              <a:rPr lang="en-US" altLang="en-US" dirty="0"/>
              <a:t>se (Runnable, Running, Blocked durumlar</a:t>
            </a:r>
            <a:r>
              <a:rPr lang="en-US" altLang="en-US" dirty="0"/>
              <a:t>ı</a:t>
            </a:r>
            <a:r>
              <a:rPr lang="en-US" altLang="en-US" dirty="0"/>
              <a:t>nda) True döndürür.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Aktif Thread'leri Listeleme: enumerate()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isci():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time.sleep(2)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</a:t>
            </a:r>
            <a:r>
              <a:rPr lang="tr-TR" altLang="en-US" dirty="0"/>
              <a:t>2</a:t>
            </a:r>
            <a:r>
              <a:rPr lang="en-US" altLang="en-US" dirty="0"/>
              <a:t> tane isimsiz, 1 tane isimli thread ba</a:t>
            </a:r>
            <a:r>
              <a:rPr lang="en-US" altLang="en-US" dirty="0"/>
              <a:t>ş</a:t>
            </a:r>
            <a:r>
              <a:rPr lang="en-US" altLang="en-US" dirty="0"/>
              <a:t>latal</a:t>
            </a:r>
            <a:r>
              <a:rPr lang="en-US" altLang="en-US" dirty="0"/>
              <a:t>ı</a:t>
            </a:r>
            <a:r>
              <a:rPr lang="en-US" altLang="en-US" dirty="0"/>
              <a:t>m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threading.Thread(target=isci).start()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threading.Thread(target=isci).start()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threading.Thread(target=isci, name="ÖZEL_THREAD_X").start()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print(f"Toplam Aktif Thread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: {threading.active_count()}")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print("\n--- Thread Listesi ---")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for t in threading.enumerate():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print(f"Thread Ad</a:t>
            </a:r>
            <a:r>
              <a:rPr lang="en-US" altLang="en-US" dirty="0"/>
              <a:t>ı</a:t>
            </a:r>
            <a:r>
              <a:rPr lang="en-US" altLang="en-US" dirty="0"/>
              <a:t>: {t.name}, Canl</a:t>
            </a:r>
            <a:r>
              <a:rPr lang="en-US" altLang="en-US" dirty="0"/>
              <a:t>ı</a:t>
            </a:r>
            <a:r>
              <a:rPr lang="en-US" altLang="en-US" dirty="0"/>
              <a:t> m</a:t>
            </a:r>
            <a:r>
              <a:rPr lang="en-US" altLang="en-US" dirty="0"/>
              <a:t>ı</a:t>
            </a:r>
            <a:r>
              <a:rPr lang="en-US" altLang="en-US" dirty="0"/>
              <a:t>?: {t.is_alive()}")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Havuzuna Giri</a:t>
            </a:r>
            <a:r>
              <a:rPr lang="en-US" altLang="en-US" dirty="0"/>
              <a:t>ş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Uygulaman</a:t>
            </a:r>
            <a:r>
              <a:rPr lang="en-US" altLang="en-US" dirty="0"/>
              <a:t>ı</a:t>
            </a:r>
            <a:r>
              <a:rPr lang="en-US" altLang="en-US" dirty="0"/>
              <a:t>n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</a:t>
            </a:r>
            <a:r>
              <a:rPr lang="en-US" altLang="en-US" dirty="0"/>
              <a:t>c</a:t>
            </a:r>
            <a:r>
              <a:rPr lang="en-US" altLang="en-US" dirty="0"/>
              <a:t>ı</a:t>
            </a:r>
            <a:r>
              <a:rPr lang="en-US" altLang="en-US" dirty="0"/>
              <a:t>nda belirli say</a:t>
            </a:r>
            <a:r>
              <a:rPr lang="en-US" altLang="en-US" dirty="0"/>
              <a:t>ı</a:t>
            </a:r>
            <a:r>
              <a:rPr lang="en-US" altLang="en-US" dirty="0"/>
              <a:t>da (genellikle CPU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na e</a:t>
            </a:r>
            <a:r>
              <a:rPr lang="en-US" altLang="en-US" dirty="0"/>
              <a:t>ş</a:t>
            </a:r>
            <a:r>
              <a:rPr lang="en-US" altLang="en-US" dirty="0"/>
              <a:t>it) Thread'in yarat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p, kuyruktan i</a:t>
            </a:r>
            <a:r>
              <a:rPr lang="en-US" altLang="en-US" dirty="0"/>
              <a:t>ş</a:t>
            </a:r>
            <a:r>
              <a:rPr lang="en-US" altLang="en-US" dirty="0"/>
              <a:t> almak üzere sürekli haz</a:t>
            </a:r>
            <a:r>
              <a:rPr lang="en-US" altLang="en-US" dirty="0"/>
              <a:t>ı</a:t>
            </a:r>
            <a:r>
              <a:rPr lang="en-US" altLang="en-US" dirty="0"/>
              <a:t>r bekletilmesidir.</a:t>
            </a:r>
            <a:endParaRPr lang="en-US" altLang="en-US" dirty="0"/>
          </a:p>
          <a:p>
            <a:r>
              <a:rPr lang="en-US" altLang="en-US" dirty="0"/>
              <a:t>Her i</a:t>
            </a:r>
            <a:r>
              <a:rPr lang="en-US" altLang="en-US" dirty="0"/>
              <a:t>ş</a:t>
            </a:r>
            <a:r>
              <a:rPr lang="en-US" altLang="en-US" dirty="0"/>
              <a:t> geldi</a:t>
            </a:r>
            <a:r>
              <a:rPr lang="en-US" altLang="en-US" dirty="0"/>
              <a:t>ğ</a:t>
            </a:r>
            <a:r>
              <a:rPr lang="en-US" altLang="en-US" dirty="0"/>
              <a:t>inde Thread yaratman</a:t>
            </a:r>
            <a:r>
              <a:rPr lang="en-US" altLang="en-US" dirty="0"/>
              <a:t>ı</a:t>
            </a:r>
            <a:r>
              <a:rPr lang="en-US" altLang="en-US" dirty="0"/>
              <a:t>n getirdi</a:t>
            </a:r>
            <a:r>
              <a:rPr lang="en-US" altLang="en-US" dirty="0"/>
              <a:t>ğ</a:t>
            </a:r>
            <a:r>
              <a:rPr lang="en-US" altLang="en-US" dirty="0"/>
              <a:t>i ek yükü (overhead) ortadan kald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r. Thread yaratma maliyeti yüksek bir i</a:t>
            </a:r>
            <a:r>
              <a:rPr lang="en-US" altLang="en-US" dirty="0"/>
              <a:t>ş</a:t>
            </a:r>
            <a:r>
              <a:rPr lang="en-US" altLang="en-US" dirty="0"/>
              <a:t>tir.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Havuzu (Thread Pool) Mimarisi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Veznedar Analojisi: Bir bankada 100 mü</a:t>
            </a:r>
            <a:r>
              <a:rPr lang="en-US" altLang="en-US" dirty="0"/>
              <a:t>ş</a:t>
            </a:r>
            <a:r>
              <a:rPr lang="en-US" altLang="en-US" dirty="0"/>
              <a:t>teri (Görev) oldu</a:t>
            </a:r>
            <a:r>
              <a:rPr lang="en-US" altLang="en-US" dirty="0"/>
              <a:t>ğ</a:t>
            </a:r>
            <a:r>
              <a:rPr lang="en-US" altLang="en-US" dirty="0"/>
              <a:t>unu dü</a:t>
            </a:r>
            <a:r>
              <a:rPr lang="en-US" altLang="en-US" dirty="0"/>
              <a:t>ş</a:t>
            </a:r>
            <a:r>
              <a:rPr lang="en-US" altLang="en-US" dirty="0"/>
              <a:t>ünün.</a:t>
            </a:r>
            <a:endParaRPr lang="en-US" altLang="en-US" dirty="0"/>
          </a:p>
          <a:p>
            <a:pPr lvl="1"/>
            <a:r>
              <a:rPr lang="en-US" altLang="en-US" dirty="0"/>
              <a:t>Havuzsuz Sistem: Her mü</a:t>
            </a:r>
            <a:r>
              <a:rPr lang="en-US" altLang="en-US" dirty="0"/>
              <a:t>ş</a:t>
            </a:r>
            <a:r>
              <a:rPr lang="en-US" altLang="en-US" dirty="0"/>
              <a:t>teri i</a:t>
            </a:r>
            <a:r>
              <a:rPr lang="en-US" altLang="en-US" dirty="0"/>
              <a:t>ç</a:t>
            </a:r>
            <a:r>
              <a:rPr lang="en-US" altLang="en-US" dirty="0"/>
              <a:t>in yeni bir veznedar i</a:t>
            </a:r>
            <a:r>
              <a:rPr lang="en-US" altLang="en-US" dirty="0"/>
              <a:t>ş</a:t>
            </a:r>
            <a:r>
              <a:rPr lang="en-US" altLang="en-US" dirty="0"/>
              <a:t>e al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r, i</a:t>
            </a:r>
            <a:r>
              <a:rPr lang="en-US" altLang="en-US" dirty="0"/>
              <a:t>ş</a:t>
            </a:r>
            <a:r>
              <a:rPr lang="en-US" altLang="en-US" dirty="0"/>
              <a:t>lem bitince kovulur. (</a:t>
            </a:r>
            <a:r>
              <a:rPr lang="en-US" altLang="en-US" dirty="0"/>
              <a:t>Ç</a:t>
            </a:r>
            <a:r>
              <a:rPr lang="en-US" altLang="en-US" dirty="0"/>
              <a:t>ok maliyetli ve yava</a:t>
            </a:r>
            <a:r>
              <a:rPr lang="en-US" altLang="en-US" dirty="0"/>
              <a:t>ş</a:t>
            </a:r>
            <a:r>
              <a:rPr lang="en-US" altLang="en-US" dirty="0"/>
              <a:t>).</a:t>
            </a:r>
            <a:endParaRPr lang="en-US" altLang="en-US" dirty="0"/>
          </a:p>
          <a:p>
            <a:pPr lvl="1"/>
            <a:r>
              <a:rPr lang="en-US" altLang="en-US" dirty="0"/>
              <a:t>Havuzlu Sistem: Sadece 3 veznedar (Thread) vard</a:t>
            </a:r>
            <a:r>
              <a:rPr lang="en-US" altLang="en-US" dirty="0"/>
              <a:t>ı</a:t>
            </a:r>
            <a:r>
              <a:rPr lang="en-US" altLang="en-US" dirty="0"/>
              <a:t>r. Mü</a:t>
            </a:r>
            <a:r>
              <a:rPr lang="en-US" altLang="en-US" dirty="0"/>
              <a:t>ş</a:t>
            </a:r>
            <a:r>
              <a:rPr lang="en-US" altLang="en-US" dirty="0"/>
              <a:t>teriler s</a:t>
            </a:r>
            <a:r>
              <a:rPr lang="en-US" altLang="en-US" dirty="0"/>
              <a:t>ı</a:t>
            </a:r>
            <a:r>
              <a:rPr lang="en-US" altLang="en-US" dirty="0"/>
              <a:t>raya girer. </a:t>
            </a:r>
            <a:r>
              <a:rPr lang="en-US" altLang="en-US" dirty="0"/>
              <a:t>İş</a:t>
            </a:r>
            <a:r>
              <a:rPr lang="en-US" altLang="en-US" dirty="0"/>
              <a:t>i biten veznedar, s</a:t>
            </a:r>
            <a:r>
              <a:rPr lang="en-US" altLang="en-US" dirty="0"/>
              <a:t>ı</a:t>
            </a:r>
            <a:r>
              <a:rPr lang="en-US" altLang="en-US" dirty="0"/>
              <a:t>radaki mü</a:t>
            </a:r>
            <a:r>
              <a:rPr lang="en-US" altLang="en-US" dirty="0"/>
              <a:t>ş</a:t>
            </a:r>
            <a:r>
              <a:rPr lang="en-US" altLang="en-US" dirty="0"/>
              <a:t>teriyi al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Havuzu (Thread Pool) Mimarisi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altLang="en-US" dirty="0"/>
              <a:t>Nasıl Çalışır?</a:t>
            </a:r>
            <a:endParaRPr lang="tr-TR" altLang="en-US" dirty="0"/>
          </a:p>
          <a:p>
            <a:pPr lvl="1"/>
            <a:r>
              <a:rPr lang="en-US" altLang="en-US" dirty="0"/>
              <a:t>Work Queue (</a:t>
            </a:r>
            <a:r>
              <a:rPr lang="en-US" altLang="en-US" dirty="0"/>
              <a:t>İş</a:t>
            </a:r>
            <a:r>
              <a:rPr lang="en-US" altLang="en-US" dirty="0"/>
              <a:t> Kuyru</a:t>
            </a:r>
            <a:r>
              <a:rPr lang="en-US" altLang="en-US" dirty="0"/>
              <a:t>ğ</a:t>
            </a:r>
            <a:r>
              <a:rPr lang="en-US" altLang="en-US" dirty="0"/>
              <a:t>u): Yap</a:t>
            </a:r>
            <a:r>
              <a:rPr lang="en-US" altLang="en-US" dirty="0"/>
              <a:t>ı</a:t>
            </a:r>
            <a:r>
              <a:rPr lang="en-US" altLang="en-US" dirty="0"/>
              <a:t>lacak görevler bir kuyrukta birikir.</a:t>
            </a:r>
            <a:endParaRPr lang="en-US" altLang="en-US" dirty="0"/>
          </a:p>
          <a:p>
            <a:pPr lvl="1"/>
            <a:r>
              <a:rPr lang="en-US" altLang="en-US" dirty="0"/>
              <a:t>Worker Threads (</a:t>
            </a:r>
            <a:r>
              <a:rPr lang="en-US" altLang="en-US" dirty="0"/>
              <a:t>İşç</a:t>
            </a:r>
            <a:r>
              <a:rPr lang="en-US" altLang="en-US" dirty="0"/>
              <a:t>i Thread'ler): Havuzdaki sabit say</a:t>
            </a:r>
            <a:r>
              <a:rPr lang="en-US" altLang="en-US" dirty="0"/>
              <a:t>ı</a:t>
            </a:r>
            <a:r>
              <a:rPr lang="en-US" altLang="en-US" dirty="0"/>
              <a:t>daki Thread, kuyruktan sürekli i</a:t>
            </a:r>
            <a:r>
              <a:rPr lang="en-US" altLang="en-US" dirty="0"/>
              <a:t>ş</a:t>
            </a:r>
            <a:r>
              <a:rPr lang="en-US" altLang="en-US" dirty="0"/>
              <a:t> </a:t>
            </a:r>
            <a:r>
              <a:rPr lang="en-US" altLang="en-US" dirty="0"/>
              <a:t>ç</a:t>
            </a:r>
            <a:r>
              <a:rPr lang="en-US" altLang="en-US" dirty="0"/>
              <a:t>eker.</a:t>
            </a:r>
            <a:endParaRPr lang="en-US" altLang="en-US" dirty="0"/>
          </a:p>
          <a:p>
            <a:pPr lvl="1"/>
            <a:r>
              <a:rPr lang="en-US" altLang="en-US" dirty="0"/>
              <a:t>Reuse (Yeniden Kullan</a:t>
            </a:r>
            <a:r>
              <a:rPr lang="en-US" altLang="en-US" dirty="0"/>
              <a:t>ı</a:t>
            </a:r>
            <a:r>
              <a:rPr lang="en-US" altLang="en-US" dirty="0"/>
              <a:t>m): Görevi biten Thread yok olmaz, yeni görev almak üzere havuza döner.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Havuzu (Thread Pool) Mimarisi </a:t>
            </a:r>
            <a:r>
              <a:rPr lang="en-US" altLang="en-US" dirty="0"/>
              <a:t>İç</a:t>
            </a:r>
            <a:r>
              <a:rPr lang="en-US" altLang="en-US" dirty="0"/>
              <a:t>erik:</a:t>
            </a:r>
            <a:endParaRPr lang="en-US" altLang="en-US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3600" y="2249170"/>
            <a:ext cx="7923530" cy="4325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Python'da Modern Thread Havuzu Yönetimi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Python'da Thread havuzlar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yönetmek i</a:t>
            </a:r>
            <a:r>
              <a:rPr lang="en-US" altLang="en-US" dirty="0"/>
              <a:t>ç</a:t>
            </a:r>
            <a:r>
              <a:rPr lang="en-US" altLang="en-US" dirty="0"/>
              <a:t>in threading modülü yerine, daha yüksek seviyeli (high-level) olan concurrent.futures kütüphanesi tercih edilir.</a:t>
            </a:r>
            <a:endParaRPr lang="en-US" altLang="en-US" dirty="0"/>
          </a:p>
          <a:p>
            <a:r>
              <a:rPr lang="en-US" altLang="en-US" dirty="0"/>
              <a:t>ThreadPoolExecutor 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f</a:t>
            </a:r>
            <a:r>
              <a:rPr lang="en-US" altLang="en-US" dirty="0"/>
              <a:t>ı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Havuzun yöneticisidir. Ka</a:t>
            </a:r>
            <a:r>
              <a:rPr lang="en-US" altLang="en-US" dirty="0"/>
              <a:t>ç</a:t>
            </a:r>
            <a:r>
              <a:rPr lang="en-US" altLang="en-US" dirty="0"/>
              <a:t> i</a:t>
            </a:r>
            <a:r>
              <a:rPr lang="en-US" altLang="en-US" dirty="0"/>
              <a:t>şç</a:t>
            </a:r>
            <a:r>
              <a:rPr lang="en-US" altLang="en-US" dirty="0"/>
              <a:t>i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aca</a:t>
            </a:r>
            <a:r>
              <a:rPr lang="en-US" altLang="en-US" dirty="0"/>
              <a:t>ğı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(max_workers) belirler.</a:t>
            </a:r>
            <a:endParaRPr lang="en-US" altLang="en-US" dirty="0"/>
          </a:p>
          <a:p>
            <a:pPr lvl="1"/>
            <a:r>
              <a:rPr lang="en-US" altLang="en-US" dirty="0"/>
              <a:t>with blo</a:t>
            </a:r>
            <a:r>
              <a:rPr lang="en-US" altLang="en-US" dirty="0"/>
              <a:t>ğ</a:t>
            </a:r>
            <a:r>
              <a:rPr lang="en-US" altLang="en-US" dirty="0"/>
              <a:t>u ile kullan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ığı</a:t>
            </a:r>
            <a:r>
              <a:rPr lang="en-US" altLang="en-US" dirty="0"/>
              <a:t>nda, tüm i</a:t>
            </a:r>
            <a:r>
              <a:rPr lang="en-US" altLang="en-US" dirty="0"/>
              <a:t>ş</a:t>
            </a:r>
            <a:r>
              <a:rPr lang="en-US" altLang="en-US" dirty="0"/>
              <a:t>ler bitene kadar program</a:t>
            </a:r>
            <a:r>
              <a:rPr lang="en-US" altLang="en-US" dirty="0"/>
              <a:t>ı</a:t>
            </a:r>
            <a:r>
              <a:rPr lang="en-US" altLang="en-US" dirty="0"/>
              <a:t>n kapanmamas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ve kaynaklar</a:t>
            </a:r>
            <a:r>
              <a:rPr lang="en-US" altLang="en-US" dirty="0"/>
              <a:t>ı</a:t>
            </a:r>
            <a:r>
              <a:rPr lang="en-US" altLang="en-US" dirty="0"/>
              <a:t>n temizlenmesini otomatik yönetir.</a:t>
            </a:r>
            <a:endParaRPr lang="en-US" altLang="en-US" dirty="0"/>
          </a:p>
          <a:p>
            <a:pPr lvl="0"/>
            <a:r>
              <a:rPr lang="en-US" altLang="en-US" dirty="0"/>
              <a:t>Temel Metotlar:</a:t>
            </a:r>
            <a:endParaRPr lang="en-US" altLang="en-US" dirty="0"/>
          </a:p>
          <a:p>
            <a:pPr lvl="1"/>
            <a:r>
              <a:rPr lang="en-US" altLang="en-US" dirty="0"/>
              <a:t>submit(fn, *args): Tek bir i</a:t>
            </a:r>
            <a:r>
              <a:rPr lang="en-US" altLang="en-US" dirty="0"/>
              <a:t>ş</a:t>
            </a:r>
            <a:r>
              <a:rPr lang="en-US" altLang="en-US" dirty="0"/>
              <a:t>i havuza atar.</a:t>
            </a:r>
            <a:endParaRPr lang="en-US" altLang="en-US" dirty="0"/>
          </a:p>
          <a:p>
            <a:pPr lvl="1"/>
            <a:r>
              <a:rPr lang="en-US" altLang="en-US" dirty="0"/>
              <a:t>map(fn, list): Bir listeyi (örn: dosya isimleri) s</a:t>
            </a:r>
            <a:r>
              <a:rPr lang="en-US" altLang="en-US" dirty="0"/>
              <a:t>ı</a:t>
            </a:r>
            <a:r>
              <a:rPr lang="en-US" altLang="en-US" dirty="0"/>
              <a:t>rayla i</a:t>
            </a:r>
            <a:r>
              <a:rPr lang="en-US" altLang="en-US" dirty="0"/>
              <a:t>şç</a:t>
            </a:r>
            <a:r>
              <a:rPr lang="en-US" altLang="en-US" dirty="0"/>
              <a:t>ilere da</a:t>
            </a:r>
            <a:r>
              <a:rPr lang="en-US" altLang="en-US" dirty="0"/>
              <a:t>ğı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Python'da Modern Thread Havuzu Yönetimi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r>
              <a:rPr lang="en-US" altLang="en-US" dirty="0"/>
              <a:t>Thread Havuzu ile Görev Da</a:t>
            </a:r>
            <a:r>
              <a:rPr lang="en-US" altLang="en-US" dirty="0"/>
              <a:t>ğı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m</a:t>
            </a:r>
            <a:r>
              <a:rPr lang="en-US" altLang="en-US" dirty="0"/>
              <a:t>ı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from concurrent.futures import ThreadPoolExecutor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gorev_yap(is_no):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# Hangi Thread'in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ığı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görelim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thread_adi = threading.current_thread().name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print(f"[{thread_adi}] Görev {is_no} ba</a:t>
            </a:r>
            <a:r>
              <a:rPr lang="en-US" altLang="en-US" dirty="0"/>
              <a:t>ş</a:t>
            </a:r>
            <a:r>
              <a:rPr lang="en-US" altLang="en-US" dirty="0"/>
              <a:t>lad</a:t>
            </a:r>
            <a:r>
              <a:rPr lang="en-US" altLang="en-US" dirty="0"/>
              <a:t>ı</a:t>
            </a:r>
            <a:r>
              <a:rPr lang="en-US" altLang="en-US" dirty="0"/>
              <a:t>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time.sleep(1) # </a:t>
            </a:r>
            <a:r>
              <a:rPr lang="en-US" altLang="en-US" dirty="0"/>
              <a:t>İş</a:t>
            </a:r>
            <a:r>
              <a:rPr lang="en-US" altLang="en-US" dirty="0"/>
              <a:t>lem simülasyonu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return f"Görev {is_no} Bitti"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Havuz olu</a:t>
            </a:r>
            <a:r>
              <a:rPr lang="en-US" altLang="en-US" dirty="0"/>
              <a:t>ş</a:t>
            </a:r>
            <a:r>
              <a:rPr lang="en-US" altLang="en-US" dirty="0"/>
              <a:t>turuluyor (Maksimum 2 </a:t>
            </a:r>
            <a:r>
              <a:rPr lang="en-US" altLang="en-US" dirty="0"/>
              <a:t>İşç</a:t>
            </a:r>
            <a:r>
              <a:rPr lang="en-US" altLang="en-US" dirty="0"/>
              <a:t>i)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print("--- Havuz A</a:t>
            </a:r>
            <a:r>
              <a:rPr lang="en-US" altLang="en-US" dirty="0"/>
              <a:t>çı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yor (Sadece 2 </a:t>
            </a:r>
            <a:r>
              <a:rPr lang="en-US" altLang="en-US" dirty="0"/>
              <a:t>İşç</a:t>
            </a:r>
            <a:r>
              <a:rPr lang="en-US" altLang="en-US" dirty="0"/>
              <a:t>i Var) ---")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with ThreadPoolExecutor(max_workers=2) as havuz: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# 5 adet görevi havuza gönderiyoruz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# map fonksiyonu, for döngüsü gibi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ışı</a:t>
            </a:r>
            <a:r>
              <a:rPr lang="en-US" altLang="en-US" dirty="0"/>
              <a:t>r ve i</a:t>
            </a:r>
            <a:r>
              <a:rPr lang="en-US" altLang="en-US" dirty="0"/>
              <a:t>ş</a:t>
            </a:r>
            <a:r>
              <a:rPr lang="en-US" altLang="en-US" dirty="0"/>
              <a:t>leri da</a:t>
            </a:r>
            <a:r>
              <a:rPr lang="en-US" altLang="en-US" dirty="0"/>
              <a:t>ğı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sonuclar = havuz.map(gorev_yap, range(1, 6))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print("--- Tüm </a:t>
            </a:r>
            <a:r>
              <a:rPr lang="en-US" altLang="en-US" dirty="0"/>
              <a:t>İş</a:t>
            </a:r>
            <a:r>
              <a:rPr lang="en-US" altLang="en-US" dirty="0"/>
              <a:t>ler Tamamland</a:t>
            </a:r>
            <a:r>
              <a:rPr lang="en-US" altLang="en-US" dirty="0"/>
              <a:t>ı</a:t>
            </a:r>
            <a:r>
              <a:rPr lang="en-US" altLang="en-US" dirty="0"/>
              <a:t> ---")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Performans ve Kaynak Yönetimi Avantajlar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624205" indent="-514350">
              <a:buAutoNum type="arabicPeriod"/>
            </a:pPr>
            <a:r>
              <a:rPr lang="en-US" altLang="en-US" dirty="0"/>
              <a:t>Overhead (Ek Yük) Azalmas</a:t>
            </a:r>
            <a:r>
              <a:rPr lang="en-US" altLang="en-US" dirty="0"/>
              <a:t>ı</a:t>
            </a:r>
            <a:r>
              <a:rPr lang="en-US" altLang="en-US" dirty="0"/>
              <a:t>:</a:t>
            </a:r>
            <a:endParaRPr lang="en-US" altLang="en-US" dirty="0"/>
          </a:p>
          <a:p>
            <a:pPr marL="1081405" lvl="1" indent="-514350"/>
            <a:r>
              <a:rPr lang="en-US" altLang="en-US" dirty="0"/>
              <a:t>Thread olu</a:t>
            </a:r>
            <a:r>
              <a:rPr lang="en-US" altLang="en-US" dirty="0"/>
              <a:t>ş</a:t>
            </a:r>
            <a:r>
              <a:rPr lang="en-US" altLang="en-US" dirty="0"/>
              <a:t>turmak (New -&gt; Runnable) ve yok etmek (Terminated) i</a:t>
            </a:r>
            <a:r>
              <a:rPr lang="en-US" altLang="en-US" dirty="0"/>
              <a:t>ş</a:t>
            </a:r>
            <a:r>
              <a:rPr lang="en-US" altLang="en-US" dirty="0"/>
              <a:t>letim sistemi i</a:t>
            </a:r>
            <a:r>
              <a:rPr lang="en-US" altLang="en-US" dirty="0"/>
              <a:t>ç</a:t>
            </a:r>
            <a:r>
              <a:rPr lang="en-US" altLang="en-US" dirty="0"/>
              <a:t>in maliyetli bir i</a:t>
            </a:r>
            <a:r>
              <a:rPr lang="en-US" altLang="en-US" dirty="0"/>
              <a:t>ş</a:t>
            </a:r>
            <a:r>
              <a:rPr lang="en-US" altLang="en-US" dirty="0"/>
              <a:t>lemdir. Havuz, bu maliyeti sadece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ıç</a:t>
            </a:r>
            <a:r>
              <a:rPr lang="en-US" altLang="en-US" dirty="0"/>
              <a:t>ta bir kez öder.</a:t>
            </a:r>
            <a:endParaRPr lang="en-US" altLang="en-US" dirty="0"/>
          </a:p>
          <a:p>
            <a:pPr marL="624205" lvl="0" indent="-514350">
              <a:buAutoNum type="arabicPeriod"/>
            </a:pPr>
            <a:r>
              <a:rPr lang="en-US" altLang="en-US" dirty="0"/>
              <a:t>Kaynak Kontrolü:</a:t>
            </a:r>
            <a:endParaRPr lang="en-US" altLang="en-US" dirty="0"/>
          </a:p>
          <a:p>
            <a:pPr marL="1081405" lvl="1" indent="-514350"/>
            <a:r>
              <a:rPr lang="en-US" altLang="en-US" dirty="0"/>
              <a:t>Sisteme ayn</a:t>
            </a:r>
            <a:r>
              <a:rPr lang="en-US" altLang="en-US" dirty="0"/>
              <a:t>ı</a:t>
            </a:r>
            <a:r>
              <a:rPr lang="en-US" altLang="en-US" dirty="0"/>
              <a:t> anda 10.000 istek gelirse ve her biri i</a:t>
            </a:r>
            <a:r>
              <a:rPr lang="en-US" altLang="en-US" dirty="0"/>
              <a:t>ç</a:t>
            </a:r>
            <a:r>
              <a:rPr lang="en-US" altLang="en-US" dirty="0"/>
              <a:t>in Thread a</a:t>
            </a:r>
            <a:r>
              <a:rPr lang="en-US" altLang="en-US" dirty="0"/>
              <a:t>ç</a:t>
            </a:r>
            <a:r>
              <a:rPr lang="en-US" altLang="en-US" dirty="0"/>
              <a:t>arsan</a:t>
            </a:r>
            <a:r>
              <a:rPr lang="en-US" altLang="en-US" dirty="0"/>
              <a:t>ı</a:t>
            </a:r>
            <a:r>
              <a:rPr lang="en-US" altLang="en-US" dirty="0"/>
              <a:t>z sunucu </a:t>
            </a:r>
            <a:r>
              <a:rPr lang="en-US" altLang="en-US" dirty="0"/>
              <a:t>ç</a:t>
            </a:r>
            <a:r>
              <a:rPr lang="en-US" altLang="en-US" dirty="0"/>
              <a:t>öker (Memory Error).</a:t>
            </a:r>
            <a:endParaRPr lang="en-US" altLang="en-US" dirty="0"/>
          </a:p>
          <a:p>
            <a:pPr marL="1081405" lvl="1" indent="-514350"/>
            <a:r>
              <a:rPr lang="en-US" altLang="en-US" dirty="0"/>
              <a:t>Havuz ile "Ayn</a:t>
            </a:r>
            <a:r>
              <a:rPr lang="en-US" altLang="en-US" dirty="0"/>
              <a:t>ı</a:t>
            </a:r>
            <a:r>
              <a:rPr lang="en-US" altLang="en-US" dirty="0"/>
              <a:t> anda en fazla 50 ki</a:t>
            </a:r>
            <a:r>
              <a:rPr lang="en-US" altLang="en-US" dirty="0"/>
              <a:t>ş</a:t>
            </a:r>
            <a:r>
              <a:rPr lang="en-US" altLang="en-US" dirty="0"/>
              <a:t>i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n, di</a:t>
            </a:r>
            <a:r>
              <a:rPr lang="en-US" altLang="en-US" dirty="0"/>
              <a:t>ğ</a:t>
            </a:r>
            <a:r>
              <a:rPr lang="en-US" altLang="en-US" dirty="0"/>
              <a:t>erleri s</a:t>
            </a:r>
            <a:r>
              <a:rPr lang="en-US" altLang="en-US" dirty="0"/>
              <a:t>ı</a:t>
            </a:r>
            <a:r>
              <a:rPr lang="en-US" altLang="en-US" dirty="0"/>
              <a:t>rada beklesin" diyerek sistemi korursunuz.</a:t>
            </a:r>
            <a:endParaRPr lang="en-US" altLang="en-US" dirty="0"/>
          </a:p>
          <a:p>
            <a:pPr marL="624205" lvl="0" indent="-514350"/>
            <a:r>
              <a:rPr lang="en-US" altLang="en-US" dirty="0"/>
              <a:t>Sonu</a:t>
            </a:r>
            <a:r>
              <a:rPr lang="en-US" altLang="en-US" dirty="0"/>
              <a:t>ç</a:t>
            </a:r>
            <a:r>
              <a:rPr lang="en-US" altLang="en-US" dirty="0"/>
              <a:t>: Daha kararl</a:t>
            </a:r>
            <a:r>
              <a:rPr lang="en-US" altLang="en-US" dirty="0"/>
              <a:t>ı</a:t>
            </a:r>
            <a:r>
              <a:rPr lang="en-US" altLang="en-US" dirty="0"/>
              <a:t> (stable), tahmin edilebilir ve performansl</a:t>
            </a:r>
            <a:r>
              <a:rPr lang="en-US" altLang="en-US" dirty="0"/>
              <a:t>ı</a:t>
            </a:r>
            <a:r>
              <a:rPr lang="en-US" altLang="en-US" dirty="0"/>
              <a:t> uygulamalar.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0</TotalTime>
  <Words>4065</Words>
  <Application>WPS Sunum</Application>
  <PresentationFormat>Geniş ekran</PresentationFormat>
  <Paragraphs>101</Paragraphs>
  <Slides>12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Georgia</vt:lpstr>
      <vt:lpstr>Wingdings 2</vt:lpstr>
      <vt:lpstr>Wingdings</vt:lpstr>
      <vt:lpstr>Calibri</vt:lpstr>
      <vt:lpstr>Microsoft YaHei</vt:lpstr>
      <vt:lpstr>Arial Unicode MS</vt:lpstr>
      <vt:lpstr>Eğitim sunusu</vt:lpstr>
      <vt:lpstr>Paralel Hesaplama</vt:lpstr>
      <vt:lpstr>Hata Ayıklama için Thread Bilgileri ve Yönetimi</vt:lpstr>
      <vt:lpstr>Aktif Thread'leri Listeleme: enumerate()</vt:lpstr>
      <vt:lpstr>Thread'in Canlılık Durumunu Kontrol Etmek</vt:lpstr>
      <vt:lpstr>Aktif Thread'leri Listeleme: enumerate()</vt:lpstr>
      <vt:lpstr>Thread Havuzuna Giriş</vt:lpstr>
      <vt:lpstr>Thread Havuzu (Thread Pool) Mimarisi</vt:lpstr>
      <vt:lpstr>Thread Havuzu (Thread Pool) Mimarisi</vt:lpstr>
      <vt:lpstr>Thread Havuzu (Thread Pool) Mimarisi İçerik:</vt:lpstr>
      <vt:lpstr>Python'da Modern Thread Havuzu Yönetimi</vt:lpstr>
      <vt:lpstr>Python'da Modern Thread Havuzu Yönetimi</vt:lpstr>
      <vt:lpstr>Performans ve Kaynak Yönetimi Avantajları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419</cp:revision>
  <dcterms:created xsi:type="dcterms:W3CDTF">2023-12-09T09:03:00Z</dcterms:created>
  <dcterms:modified xsi:type="dcterms:W3CDTF">2025-12-08T11:35:50Z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075980AA15F642F48986FAA59BC7CDD0_12</vt:lpwstr>
  </property>
  <property fmtid="{D5CDD505-2E9C-101B-9397-08002B2CF9AE}" pid="4" name="KSOProductBuildVer">
    <vt:lpwstr>1055-12.2.0.22549</vt:lpwstr>
  </property>
</Properties>
</file>