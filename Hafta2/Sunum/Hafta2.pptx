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0"/>
  </p:notesMasterIdLst>
  <p:handoutMasterIdLst>
    <p:handoutMasterId r:id="rId21"/>
  </p:handoutMasterIdLst>
  <p:sldIdLst>
    <p:sldId id="257" r:id="rId2"/>
    <p:sldId id="259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</p:sldIdLst>
  <p:sldSz cx="12192000" cy="6858000"/>
  <p:notesSz cx="6858000" cy="9144000"/>
  <p:defaultTextStyle>
    <a:defPPr rtl="0"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296" userDrawn="1">
          <p15:clr>
            <a:srgbClr val="A4A3A4"/>
          </p15:clr>
        </p15:guide>
        <p15:guide id="4" orient="horz" pos="41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89911" autoAdjust="0"/>
  </p:normalViewPr>
  <p:slideViewPr>
    <p:cSldViewPr snapToGrid="0">
      <p:cViewPr varScale="1">
        <p:scale>
          <a:sx n="87" d="100"/>
          <a:sy n="87" d="100"/>
        </p:scale>
        <p:origin x="389" y="58"/>
      </p:cViewPr>
      <p:guideLst>
        <p:guide orient="horz" pos="2160"/>
        <p:guide pos="3840"/>
        <p:guide pos="7296"/>
        <p:guide orient="horz" pos="412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93" d="100"/>
          <a:sy n="93" d="100"/>
        </p:scale>
        <p:origin x="2874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FC8FC1-A1A8-42CB-96AC-83684F0DF578}" type="datetime1">
              <a:rPr lang="tr-TR" smtClean="0"/>
              <a:t>7.10.2024</a:t>
            </a:fld>
            <a:endParaRPr lang="tr-TR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4E50CC-F33A-4EF4-9F12-93EC4A21A0CF}" type="slidenum">
              <a:rPr lang="tr-TR" smtClean="0"/>
              <a:t>‹#›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232950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3" name="Tarih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E0653A-FB33-4975-A611-5D53C5C337D6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tr-TR" noProof="0" dirty="0"/>
          </a:p>
        </p:txBody>
      </p:sp>
      <p:sp>
        <p:nvSpPr>
          <p:cNvPr id="5" name="Notlar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tr-TR" noProof="0" dirty="0"/>
              <a:t>Asıl metin stillerini düzenlemek için tıklayın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tr-TR" noProof="0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2674CE4-FBD8-4481-AEFB-CA53E599A745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2732681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32674CE4-FBD8-4481-AEFB-CA53E599A745}" type="slidenum">
              <a:rPr lang="tr-TR" smtClean="0"/>
              <a:t>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79742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586658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33105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6779443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542467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731209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956178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8374759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9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160209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10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1461881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11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3931065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12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726535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13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15933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14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4430402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15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03836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16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0318587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17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4758657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Görüntüsü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lar Yer Tutucusu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Sununun izleyicilere sağlayacağı faydalar: Yetişkin kişiler, konunun onlar için neden önem taşıdığını bildiklerinde konuya daha fazla ilgi gösterir.</a:t>
            </a:r>
          </a:p>
          <a:p>
            <a:pPr marL="171450" indent="-171450" rtl="0">
              <a:buFont typeface="Arial" panose="020B0604020202020204" pitchFamily="34" charset="0"/>
              <a:buChar char="•"/>
            </a:pPr>
            <a:r>
              <a:rPr lang="tr-TR" dirty="0"/>
              <a:t>Sunucunun konuya dair uzmanlık düzeyi: Bu alandaki yeterliliğinizi kısaca açıklayın veya katılımcıların neden sizi dinlemesi gerektiğini ifade edin.</a:t>
            </a:r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CF2FD335-6D8E-486A-8F5F-DFC7325903FF}" type="slidenum">
              <a:rPr lang="tr-TR" smtClean="0"/>
              <a:t>18</a:t>
            </a:fld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340461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ikdörtgen 18"/>
          <p:cNvSpPr/>
          <p:nvPr/>
        </p:nvSpPr>
        <p:spPr>
          <a:xfrm>
            <a:off x="0" y="0"/>
            <a:ext cx="12192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3" name="Dikdörtgen 22"/>
          <p:cNvSpPr/>
          <p:nvPr/>
        </p:nvSpPr>
        <p:spPr>
          <a:xfrm flipV="1">
            <a:off x="7213577" y="3810001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4" name="Dikdörtgen 23"/>
          <p:cNvSpPr/>
          <p:nvPr/>
        </p:nvSpPr>
        <p:spPr>
          <a:xfrm flipV="1">
            <a:off x="7213601" y="3897010"/>
            <a:ext cx="49784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5" name="Dikdörtgen 24"/>
          <p:cNvSpPr/>
          <p:nvPr/>
        </p:nvSpPr>
        <p:spPr>
          <a:xfrm flipV="1">
            <a:off x="7213601" y="4115167"/>
            <a:ext cx="49784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6" name="Dikdörtgen 25"/>
          <p:cNvSpPr/>
          <p:nvPr/>
        </p:nvSpPr>
        <p:spPr>
          <a:xfrm flipV="1">
            <a:off x="7213600" y="4164403"/>
            <a:ext cx="262128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7" name="Dikdörtgen 26"/>
          <p:cNvSpPr/>
          <p:nvPr/>
        </p:nvSpPr>
        <p:spPr>
          <a:xfrm flipV="1">
            <a:off x="7213600" y="4199572"/>
            <a:ext cx="262128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0" name="Yuvarlatılmış Dikdörtgen 29"/>
          <p:cNvSpPr/>
          <p:nvPr/>
        </p:nvSpPr>
        <p:spPr bwMode="white">
          <a:xfrm>
            <a:off x="7213600" y="3962400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1" name="Yuvarlatılmış Dikdörtgen 30"/>
          <p:cNvSpPr/>
          <p:nvPr/>
        </p:nvSpPr>
        <p:spPr bwMode="white">
          <a:xfrm>
            <a:off x="9835343" y="406098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7" name="Dikdörtgen 6"/>
          <p:cNvSpPr/>
          <p:nvPr/>
        </p:nvSpPr>
        <p:spPr>
          <a:xfrm>
            <a:off x="1" y="3649662"/>
            <a:ext cx="12192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0" name="Dikdörtgen 9"/>
          <p:cNvSpPr/>
          <p:nvPr/>
        </p:nvSpPr>
        <p:spPr>
          <a:xfrm>
            <a:off x="1" y="3675528"/>
            <a:ext cx="12192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11" name="Dikdörtgen 10"/>
          <p:cNvSpPr/>
          <p:nvPr/>
        </p:nvSpPr>
        <p:spPr>
          <a:xfrm flipV="1">
            <a:off x="8552068" y="3643090"/>
            <a:ext cx="3639933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8" name="Başlık 7"/>
          <p:cNvSpPr>
            <a:spLocks noGrp="1"/>
          </p:cNvSpPr>
          <p:nvPr>
            <p:ph type="ctrTitle"/>
          </p:nvPr>
        </p:nvSpPr>
        <p:spPr>
          <a:xfrm>
            <a:off x="609600" y="2389009"/>
            <a:ext cx="11277600" cy="1470025"/>
          </a:xfrm>
        </p:spPr>
        <p:txBody>
          <a:bodyPr rtlCol="0"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9" name="Alt Başlık 8"/>
          <p:cNvSpPr>
            <a:spLocks noGrp="1"/>
          </p:cNvSpPr>
          <p:nvPr>
            <p:ph type="subTitle" idx="1"/>
          </p:nvPr>
        </p:nvSpPr>
        <p:spPr>
          <a:xfrm>
            <a:off x="609600" y="3899938"/>
            <a:ext cx="6604000" cy="1752600"/>
          </a:xfrm>
        </p:spPr>
        <p:txBody>
          <a:bodyPr rtlCol="0"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pPr rtl="0"/>
            <a:r>
              <a:rPr lang="tr-TR" noProof="0" smtClean="0"/>
              <a:t>Asıl alt başlık stilini düzenlemek için tıklayın</a:t>
            </a:r>
            <a:endParaRPr lang="tr-TR" noProof="0" dirty="0"/>
          </a:p>
        </p:txBody>
      </p:sp>
      <p:sp>
        <p:nvSpPr>
          <p:cNvPr id="17" name="Alt Bilgi Yer Tutucusu 16"/>
          <p:cNvSpPr>
            <a:spLocks noGrp="1"/>
          </p:cNvSpPr>
          <p:nvPr>
            <p:ph type="ftr" sz="quarter" idx="11"/>
          </p:nvPr>
        </p:nvSpPr>
        <p:spPr>
          <a:xfrm>
            <a:off x="7265116" y="4205288"/>
            <a:ext cx="172720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8" name="Tarih Yer Tutucusu 27"/>
          <p:cNvSpPr>
            <a:spLocks noGrp="1"/>
          </p:cNvSpPr>
          <p:nvPr>
            <p:ph type="dt" sz="half" idx="10"/>
          </p:nvPr>
        </p:nvSpPr>
        <p:spPr>
          <a:xfrm>
            <a:off x="9043832" y="4206240"/>
            <a:ext cx="1280160" cy="457200"/>
          </a:xfrm>
        </p:spPr>
        <p:txBody>
          <a:bodyPr rtlCol="0"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E8609038-EC1C-40A6-91EB-4A3D73CE9547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29" name="Slayt Numarası Yer Tutucusu 28"/>
          <p:cNvSpPr>
            <a:spLocks noGrp="1"/>
          </p:cNvSpPr>
          <p:nvPr>
            <p:ph type="sldNum" sz="quarter" idx="12"/>
          </p:nvPr>
        </p:nvSpPr>
        <p:spPr>
          <a:xfrm>
            <a:off x="11093451" y="1136"/>
            <a:ext cx="996949" cy="365760"/>
          </a:xfrm>
        </p:spPr>
        <p:txBody>
          <a:bodyPr rtlCol="0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60115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  <a:lvl5pPr>
              <a:defRPr/>
            </a:lvl5pPr>
            <a:lvl6pPr>
              <a:defRPr/>
            </a:lvl6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6610F96-FFD0-4BC1-86F0-D957A2A4B8C7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594303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963084" y="1968322"/>
            <a:ext cx="10363200" cy="1362075"/>
          </a:xfrm>
        </p:spPr>
        <p:txBody>
          <a:bodyPr rtlCol="0"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chemeClr val="accent2"/>
                </a:solidFill>
                <a:effectLst/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963084" y="3367088"/>
            <a:ext cx="10363200" cy="1509712"/>
          </a:xfrm>
        </p:spPr>
        <p:txBody>
          <a:bodyPr rtlCol="0"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F56EF26-BBDF-4885-BB66-53FDFCADA69E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705127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609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97600" y="2249425"/>
            <a:ext cx="5384800" cy="4341875"/>
          </a:xfrm>
        </p:spPr>
        <p:txBody>
          <a:bodyPr rtlCol="0"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84B813B-74D5-4B4F-94CB-6CD8395E9845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46445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0" orient="horz" pos="2160" userDrawn="1">
          <p15:clr>
            <a:srgbClr val="FBAE40"/>
          </p15:clr>
        </p15:guide>
        <p15:guide id="1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508000" y="1143000"/>
            <a:ext cx="11176000" cy="1069848"/>
          </a:xfrm>
        </p:spPr>
        <p:txBody>
          <a:bodyPr rtlCol="0" anchor="ctr"/>
          <a:lstStyle>
            <a:lvl1pPr>
              <a:defRPr sz="4000" b="0" i="0" cap="none" baseline="0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508000" y="2244970"/>
            <a:ext cx="5388864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5" name="İçerik Yer Tutucusu 4"/>
          <p:cNvSpPr>
            <a:spLocks noGrp="1"/>
          </p:cNvSpPr>
          <p:nvPr>
            <p:ph sz="quarter" idx="2"/>
          </p:nvPr>
        </p:nvSpPr>
        <p:spPr>
          <a:xfrm>
            <a:off x="508000" y="2708519"/>
            <a:ext cx="5388864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3"/>
          </p:nvPr>
        </p:nvSpPr>
        <p:spPr>
          <a:xfrm>
            <a:off x="6294968" y="2244970"/>
            <a:ext cx="5389033" cy="457200"/>
          </a:xfrm>
          <a:solidFill>
            <a:schemeClr val="accent2">
              <a:lumMod val="60000"/>
              <a:lumOff val="4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rtlCol="0"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291073" y="2708519"/>
            <a:ext cx="5389033" cy="3886200"/>
          </a:xfrm>
        </p:spPr>
        <p:txBody>
          <a:bodyPr rtlCol="0"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28" name="Alt Bilgi Yer Tutucusu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6" name="Tarih Yer Tutucusu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B72EC71D-25AD-4A7C-AB6C-E63D5EDA9366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27" name="Slayt Numarası Yer Tutucusu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70716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9848"/>
          </a:xfrm>
        </p:spPr>
        <p:txBody>
          <a:bodyPr rtlCol="0"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4" name="Alt Bilgi Yer Tutucusu 3"/>
          <p:cNvSpPr>
            <a:spLocks noGrp="1"/>
          </p:cNvSpPr>
          <p:nvPr>
            <p:ph type="ftr" sz="quarter" idx="11"/>
          </p:nvPr>
        </p:nvSpPr>
        <p:spPr>
          <a:xfrm>
            <a:off x="7010400" y="612648"/>
            <a:ext cx="1767840" cy="457200"/>
          </a:xfrm>
        </p:spPr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3" name="Tarih Yer Tutucusu 2"/>
          <p:cNvSpPr>
            <a:spLocks noGrp="1"/>
          </p:cNvSpPr>
          <p:nvPr>
            <p:ph type="dt" sz="half" idx="10"/>
          </p:nvPr>
        </p:nvSpPr>
        <p:spPr>
          <a:xfrm>
            <a:off x="8778240" y="612648"/>
            <a:ext cx="1276352" cy="457200"/>
          </a:xfrm>
        </p:spPr>
        <p:txBody>
          <a:bodyPr rtlCol="0"/>
          <a:lstStyle>
            <a:lvl1pPr>
              <a:defRPr/>
            </a:lvl1pPr>
          </a:lstStyle>
          <a:p>
            <a:fld id="{851036E3-487C-41B5-92E9-47E0F0B9591B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>
          <a:xfrm>
            <a:off x="10899648" y="2272"/>
            <a:ext cx="1016000" cy="365760"/>
          </a:xfrm>
        </p:spPr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8219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lt Bilgi Yer Tutucusu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2" name="Tarih Yer Tutucusu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E7730CD3-31CA-47BB-8FC4-9AA93086A77D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135695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Resim Yazı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 hasCustomPrompt="1"/>
          </p:nvPr>
        </p:nvSpPr>
        <p:spPr>
          <a:xfrm>
            <a:off x="7137995" y="1101970"/>
            <a:ext cx="4511040" cy="877824"/>
          </a:xfrm>
        </p:spPr>
        <p:txBody>
          <a:bodyPr rtlCol="0" anchor="b"/>
          <a:lstStyle>
            <a:lvl1pPr algn="l">
              <a:buNone/>
              <a:defRPr sz="1800" b="1"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1"/>
          </p:nvPr>
        </p:nvSpPr>
        <p:spPr>
          <a:xfrm>
            <a:off x="203200" y="776287"/>
            <a:ext cx="6803136" cy="5805083"/>
          </a:xfrm>
        </p:spPr>
        <p:txBody>
          <a:bodyPr rtlCol="0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3" name="Metin Yer Tutucusu 2"/>
          <p:cNvSpPr>
            <a:spLocks noGrp="1"/>
          </p:cNvSpPr>
          <p:nvPr>
            <p:ph type="body" idx="2"/>
          </p:nvPr>
        </p:nvSpPr>
        <p:spPr>
          <a:xfrm>
            <a:off x="7137995" y="2010727"/>
            <a:ext cx="4511040" cy="4580573"/>
          </a:xfrm>
        </p:spPr>
        <p:txBody>
          <a:bodyPr rtlCol="0"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0C5B609-EC73-4CF8-A564-D90D0E54FA36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498685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Resim Yazı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>
          <a:xfrm>
            <a:off x="7253913" y="1109161"/>
            <a:ext cx="782404" cy="4681637"/>
          </a:xfrm>
        </p:spPr>
        <p:txBody>
          <a:bodyPr vert="vert270" lIns="45720" tIns="0" rIns="45720" rtlCol="0" anchor="t"/>
          <a:lstStyle>
            <a:lvl1pPr algn="ctr">
              <a:buNone/>
              <a:defRPr sz="2000" b="1"/>
            </a:lvl1pPr>
          </a:lstStyle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Resim Yer Tutucusu 2" descr="Resim eklemek için boş yer tutucu. Yer tutucuya tıklayın ve eklemek istediğiniz resmi seçin"/>
          <p:cNvSpPr>
            <a:spLocks noGrp="1"/>
          </p:cNvSpPr>
          <p:nvPr>
            <p:ph type="pic" idx="1"/>
          </p:nvPr>
        </p:nvSpPr>
        <p:spPr>
          <a:xfrm>
            <a:off x="538228" y="1143000"/>
            <a:ext cx="6096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 rtlCol="0"/>
          <a:lstStyle>
            <a:lvl1pPr marL="0" indent="0">
              <a:buNone/>
              <a:defRPr sz="3200"/>
            </a:lvl1pPr>
          </a:lstStyle>
          <a:p>
            <a:pPr rtl="0"/>
            <a:r>
              <a:rPr lang="tr-TR" noProof="0" smtClean="0"/>
              <a:t>Resim eklemek için simgeyi tıklatın</a:t>
            </a:r>
            <a:endParaRPr kumimoji="0" lang="tr-TR" noProof="0" dirty="0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117924" y="3274309"/>
            <a:ext cx="3454400" cy="2516489"/>
          </a:xfrm>
        </p:spPr>
        <p:txBody>
          <a:bodyPr lIns="0" tIns="0" rIns="45720" rtlCol="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5" name="Tarih Yer Tutucusu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D85D7756-B745-4648-9348-5BA7D8FC560E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1883619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noProof="0" smtClean="0"/>
              <a:t>Asıl başlık stili için tıklatın</a:t>
            </a:r>
            <a:endParaRPr lang="tr-TR" noProof="0" dirty="0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  <a:lvl5pPr>
              <a:defRPr/>
            </a:lvl5pPr>
          </a:lstStyle>
          <a:p>
            <a:pPr lvl="0" rtl="0" eaLnBrk="1" latinLnBrk="0" hangingPunct="1"/>
            <a:r>
              <a:rPr lang="tr-TR" noProof="0" smtClean="0"/>
              <a:t>Asıl metin stillerini düzenle</a:t>
            </a:r>
          </a:p>
          <a:p>
            <a:pPr lvl="1" rtl="0" eaLnBrk="1" latinLnBrk="0" hangingPunct="1"/>
            <a:r>
              <a:rPr lang="tr-TR" noProof="0" smtClean="0"/>
              <a:t>İkinci düzey</a:t>
            </a:r>
          </a:p>
          <a:p>
            <a:pPr lvl="2" rtl="0" eaLnBrk="1" latinLnBrk="0" hangingPunct="1"/>
            <a:r>
              <a:rPr lang="tr-TR" noProof="0" smtClean="0"/>
              <a:t>Üçüncü düzey</a:t>
            </a:r>
          </a:p>
          <a:p>
            <a:pPr lvl="3" rtl="0" eaLnBrk="1" latinLnBrk="0" hangingPunct="1"/>
            <a:r>
              <a:rPr lang="tr-TR" noProof="0" smtClean="0"/>
              <a:t>Dördüncü düzey</a:t>
            </a:r>
          </a:p>
          <a:p>
            <a:pPr lvl="4" rtl="0" eaLnBrk="1" latinLnBrk="0" hangingPunct="1"/>
            <a:r>
              <a:rPr lang="tr-TR" noProof="0" smtClean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443DEEBB-C631-4BE4-9EB9-151005B5892D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3467844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 hasCustomPrompt="1"/>
          </p:nvPr>
        </p:nvSpPr>
        <p:spPr>
          <a:xfrm>
            <a:off x="9042400" y="1143000"/>
            <a:ext cx="2540000" cy="5448300"/>
          </a:xfrm>
        </p:spPr>
        <p:txBody>
          <a:bodyPr vert="eaVert" rtlCol="0"/>
          <a:lstStyle>
            <a:lvl1pPr>
              <a:defRPr/>
            </a:lvl1pPr>
          </a:lstStyle>
          <a:p>
            <a:pPr rtl="0"/>
            <a:r>
              <a:rPr lang="tr-TR" noProof="0" dirty="0"/>
              <a:t>Asıl başlık stilini düzenle</a:t>
            </a:r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1143000"/>
            <a:ext cx="8331200" cy="5448300"/>
          </a:xfrm>
        </p:spPr>
        <p:txBody>
          <a:bodyPr vert="eaVert" rtlCol="0"/>
          <a:lstStyle>
            <a:lvl5pPr>
              <a:defRPr/>
            </a:lvl5pPr>
          </a:lstStyle>
          <a:p>
            <a:pPr lvl="0" rtl="0" eaLnBrk="1" latinLnBrk="0" hangingPunct="1"/>
            <a:r>
              <a:rPr lang="tr-TR" noProof="0" dirty="0"/>
              <a:t>Asıl metin stillerini düzenlemek için tıklayın</a:t>
            </a:r>
          </a:p>
          <a:p>
            <a:pPr lvl="1" rtl="0" eaLnBrk="1" latinLnBrk="0" hangingPunct="1"/>
            <a:r>
              <a:rPr lang="tr-TR" noProof="0" dirty="0"/>
              <a:t>İkinci düzey</a:t>
            </a:r>
          </a:p>
          <a:p>
            <a:pPr lvl="2" rtl="0" eaLnBrk="1" latinLnBrk="0" hangingPunct="1"/>
            <a:r>
              <a:rPr lang="tr-TR" noProof="0" dirty="0"/>
              <a:t>Üçüncü düzey</a:t>
            </a:r>
          </a:p>
          <a:p>
            <a:pPr lvl="3" rtl="0" eaLnBrk="1" latinLnBrk="0" hangingPunct="1"/>
            <a:r>
              <a:rPr lang="tr-TR" noProof="0" dirty="0"/>
              <a:t>Dördüncü düzey</a:t>
            </a:r>
          </a:p>
          <a:p>
            <a:pPr lvl="4" rtl="0" eaLnBrk="1" latinLnBrk="0" hangingPunct="1"/>
            <a:r>
              <a:rPr lang="tr-TR" noProof="0" dirty="0"/>
              <a:t>Beşinci düzey</a:t>
            </a:r>
            <a:endParaRPr kumimoji="0" lang="tr-TR" noProof="0" dirty="0"/>
          </a:p>
        </p:txBody>
      </p:sp>
      <p:sp>
        <p:nvSpPr>
          <p:cNvPr id="5" name="Alt Bilgi Yer Tutucusu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4" name="Tarih Yer Tutucusu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C76B82DB-6D5C-486A-98D3-E008B7673553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978088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Dikdörtgen 27"/>
          <p:cNvSpPr/>
          <p:nvPr/>
        </p:nvSpPr>
        <p:spPr>
          <a:xfrm>
            <a:off x="1" y="366819"/>
            <a:ext cx="12192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9" name="Dikdörtgen 28"/>
          <p:cNvSpPr/>
          <p:nvPr/>
        </p:nvSpPr>
        <p:spPr>
          <a:xfrm>
            <a:off x="0" y="-1"/>
            <a:ext cx="12192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0" name="Dikdörtgen 29"/>
          <p:cNvSpPr/>
          <p:nvPr/>
        </p:nvSpPr>
        <p:spPr>
          <a:xfrm>
            <a:off x="1" y="308277"/>
            <a:ext cx="12192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1" name="Dikdörtgen 30"/>
          <p:cNvSpPr/>
          <p:nvPr/>
        </p:nvSpPr>
        <p:spPr>
          <a:xfrm flipV="1">
            <a:off x="7213577" y="360247"/>
            <a:ext cx="4978425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2" name="Dikdörtgen 31"/>
          <p:cNvSpPr/>
          <p:nvPr/>
        </p:nvSpPr>
        <p:spPr>
          <a:xfrm flipV="1">
            <a:off x="7213601" y="440113"/>
            <a:ext cx="49784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3" name="Yuvarlatılmış Dikdörtgen 32"/>
          <p:cNvSpPr/>
          <p:nvPr/>
        </p:nvSpPr>
        <p:spPr bwMode="white">
          <a:xfrm>
            <a:off x="7209785" y="497504"/>
            <a:ext cx="408432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 useBgFill="1">
        <p:nvSpPr>
          <p:cNvPr id="34" name="Yuvarlatılmış Dikdörtgen 33"/>
          <p:cNvSpPr/>
          <p:nvPr/>
        </p:nvSpPr>
        <p:spPr bwMode="white">
          <a:xfrm>
            <a:off x="9831528" y="588943"/>
            <a:ext cx="21336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5" name="Dikdörtgen 34"/>
          <p:cNvSpPr/>
          <p:nvPr/>
        </p:nvSpPr>
        <p:spPr bwMode="invGray">
          <a:xfrm>
            <a:off x="12113288" y="-2001"/>
            <a:ext cx="76835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6" name="Dikdörtgen 35"/>
          <p:cNvSpPr/>
          <p:nvPr/>
        </p:nvSpPr>
        <p:spPr bwMode="invGray">
          <a:xfrm>
            <a:off x="12059308" y="-2001"/>
            <a:ext cx="3657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7" name="Dikdörtgen 36"/>
          <p:cNvSpPr/>
          <p:nvPr/>
        </p:nvSpPr>
        <p:spPr bwMode="invGray">
          <a:xfrm>
            <a:off x="12033904" y="-2001"/>
            <a:ext cx="12192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8" name="Dikdörtgen 37"/>
          <p:cNvSpPr/>
          <p:nvPr/>
        </p:nvSpPr>
        <p:spPr bwMode="invGray">
          <a:xfrm>
            <a:off x="11967231" y="-2001"/>
            <a:ext cx="36576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39" name="Dikdörtgen 38"/>
          <p:cNvSpPr/>
          <p:nvPr/>
        </p:nvSpPr>
        <p:spPr bwMode="invGray">
          <a:xfrm>
            <a:off x="11887569" y="380"/>
            <a:ext cx="73152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40" name="Dikdörtgen 39"/>
          <p:cNvSpPr/>
          <p:nvPr/>
        </p:nvSpPr>
        <p:spPr bwMode="invGray">
          <a:xfrm>
            <a:off x="11831300" y="380"/>
            <a:ext cx="12192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 eaLnBrk="1" latinLnBrk="0" hangingPunct="1"/>
            <a:endParaRPr kumimoji="0" lang="tr-TR" sz="1800" noProof="0" dirty="0"/>
          </a:p>
        </p:txBody>
      </p:sp>
      <p:sp>
        <p:nvSpPr>
          <p:cNvPr id="22" name="Başlık Yer Tutucusu 21"/>
          <p:cNvSpPr>
            <a:spLocks noGrp="1"/>
          </p:cNvSpPr>
          <p:nvPr>
            <p:ph type="title"/>
          </p:nvPr>
        </p:nvSpPr>
        <p:spPr>
          <a:xfrm>
            <a:off x="609600" y="1143000"/>
            <a:ext cx="10972800" cy="10668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pPr rtl="0"/>
            <a:r>
              <a:rPr lang="tr-TR" noProof="0" dirty="0"/>
              <a:t>Asıl başlık stilini düzenlemek için tıklayın</a:t>
            </a:r>
          </a:p>
        </p:txBody>
      </p:sp>
      <p:sp>
        <p:nvSpPr>
          <p:cNvPr id="13" name="Metin Yer Tutucusu 12"/>
          <p:cNvSpPr>
            <a:spLocks noGrp="1"/>
          </p:cNvSpPr>
          <p:nvPr>
            <p:ph type="body" idx="1"/>
          </p:nvPr>
        </p:nvSpPr>
        <p:spPr>
          <a:xfrm>
            <a:off x="609600" y="2249424"/>
            <a:ext cx="10972800" cy="4325112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rtl="0"/>
            <a:r>
              <a:rPr lang="tr-TR" noProof="0" dirty="0"/>
              <a:t>Asıl metin stillerini düzenle</a:t>
            </a:r>
          </a:p>
          <a:p>
            <a:pPr lvl="1" rtl="0"/>
            <a:r>
              <a:rPr lang="tr-TR" noProof="0" dirty="0"/>
              <a:t>İkinci düzey</a:t>
            </a:r>
          </a:p>
          <a:p>
            <a:pPr lvl="2" rtl="0"/>
            <a:r>
              <a:rPr lang="tr-TR" noProof="0" dirty="0"/>
              <a:t>Üçüncü düzey</a:t>
            </a:r>
          </a:p>
          <a:p>
            <a:pPr lvl="3" rtl="0"/>
            <a:r>
              <a:rPr lang="tr-TR" noProof="0" dirty="0"/>
              <a:t>Dördüncü düzey</a:t>
            </a:r>
          </a:p>
          <a:p>
            <a:pPr lvl="4" rtl="0"/>
            <a:r>
              <a:rPr lang="tr-TR" noProof="0" dirty="0"/>
              <a:t>Beşinci düzey</a:t>
            </a:r>
          </a:p>
        </p:txBody>
      </p:sp>
      <p:sp>
        <p:nvSpPr>
          <p:cNvPr id="3" name="Alt Bilgi Yer Tutucusu 2"/>
          <p:cNvSpPr>
            <a:spLocks noGrp="1"/>
          </p:cNvSpPr>
          <p:nvPr>
            <p:ph type="ftr" sz="quarter" idx="3"/>
          </p:nvPr>
        </p:nvSpPr>
        <p:spPr>
          <a:xfrm>
            <a:off x="7010400" y="612648"/>
            <a:ext cx="1767840" cy="457200"/>
          </a:xfrm>
          <a:prstGeom prst="rect">
            <a:avLst/>
          </a:prstGeom>
        </p:spPr>
        <p:txBody>
          <a:bodyPr vert="horz" rtlCol="0"/>
          <a:lstStyle>
            <a:lvl1pPr algn="r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tr-TR" noProof="0" dirty="0"/>
              <a:t>Alt bilgi ekleme</a:t>
            </a:r>
          </a:p>
        </p:txBody>
      </p:sp>
      <p:sp>
        <p:nvSpPr>
          <p:cNvPr id="14" name="Tarih Yer Tutucusu 13"/>
          <p:cNvSpPr>
            <a:spLocks noGrp="1"/>
          </p:cNvSpPr>
          <p:nvPr>
            <p:ph type="dt" sz="half" idx="2"/>
          </p:nvPr>
        </p:nvSpPr>
        <p:spPr>
          <a:xfrm>
            <a:off x="8782048" y="612648"/>
            <a:ext cx="1276352" cy="457200"/>
          </a:xfrm>
          <a:prstGeom prst="rect">
            <a:avLst/>
          </a:prstGeom>
        </p:spPr>
        <p:txBody>
          <a:bodyPr vert="horz" rtlCol="0"/>
          <a:lstStyle>
            <a:lvl1pPr algn="l" eaLnBrk="1" latinLnBrk="0" hangingPunct="1">
              <a:defRPr kumimoji="0" sz="11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8A9E5AA4-4083-47B0-96D9-3464BE7D917D}" type="datetime1">
              <a:rPr lang="tr-TR" smtClean="0"/>
              <a:pPr/>
              <a:t>7.10.2024</a:t>
            </a:fld>
            <a:endParaRPr lang="tr-TR" dirty="0"/>
          </a:p>
        </p:txBody>
      </p:sp>
      <p:sp>
        <p:nvSpPr>
          <p:cNvPr id="23" name="Slayt Numarası Yer Tutucusu 22"/>
          <p:cNvSpPr>
            <a:spLocks noGrp="1"/>
          </p:cNvSpPr>
          <p:nvPr>
            <p:ph type="sldNum" sz="quarter" idx="4"/>
          </p:nvPr>
        </p:nvSpPr>
        <p:spPr>
          <a:xfrm>
            <a:off x="10899648" y="2272"/>
            <a:ext cx="1016000" cy="365760"/>
          </a:xfrm>
          <a:prstGeom prst="rect">
            <a:avLst/>
          </a:prstGeom>
        </p:spPr>
        <p:txBody>
          <a:bodyPr vert="horz" rtlCol="0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pPr rtl="0"/>
            <a:fld id="{401CF334-2D5C-4859-84A6-CA7E6E43FAEB}" type="slidenum">
              <a:rPr lang="tr-TR" noProof="0" smtClean="0"/>
              <a:t>‹#›</a:t>
            </a:fld>
            <a:endParaRPr lang="tr-TR" noProof="0" dirty="0"/>
          </a:p>
        </p:txBody>
      </p:sp>
    </p:spTree>
    <p:extLst>
      <p:ext uri="{BB962C8B-B14F-4D97-AF65-F5344CB8AC3E}">
        <p14:creationId xmlns:p14="http://schemas.microsoft.com/office/powerpoint/2010/main" val="2132171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>
            <a:lumMod val="75000"/>
          </a:schemeClr>
        </a:buClr>
        <a:buFont typeface="Georgia"/>
        <a:buChar char="•"/>
        <a:defRPr kumimoji="0"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>
            <a:lumMod val="75000"/>
          </a:schemeClr>
        </a:buClr>
        <a:buFont typeface="Georgia"/>
        <a:buChar char="▫"/>
        <a:defRPr kumimoji="0"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800" kern="1200">
          <a:solidFill>
            <a:schemeClr val="tx2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500" kern="1200">
          <a:solidFill>
            <a:schemeClr val="tx2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1">
            <a:lumMod val="50000"/>
          </a:schemeClr>
        </a:buClr>
        <a:buFont typeface="Wingdings 2" panose="05020102010507070707" pitchFamily="18" charset="2"/>
        <a:buChar char="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0" orient="horz" pos="2160" userDrawn="1">
          <p15:clr>
            <a:srgbClr val="F26B43"/>
          </p15:clr>
        </p15:guide>
        <p15:guide id="1" pos="3840" userDrawn="1">
          <p15:clr>
            <a:srgbClr val="F26B43"/>
          </p15:clr>
        </p15:guide>
        <p15:guide id="2" orient="horz" pos="415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Paralel Hesaplama</a:t>
            </a:r>
            <a:endParaRPr lang="tr-TR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tr-TR" dirty="0" err="1" smtClean="0"/>
              <a:t>Öğr</a:t>
            </a:r>
            <a:r>
              <a:rPr lang="tr-TR" dirty="0" smtClean="0"/>
              <a:t>. Gör. Zafer SERİN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706305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LİSTELER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Listeler sıralı elemanlar dizisidir. </a:t>
            </a:r>
            <a:r>
              <a:rPr lang="tr-TR" dirty="0" err="1" smtClean="0"/>
              <a:t>Python’da</a:t>
            </a:r>
            <a:r>
              <a:rPr lang="tr-TR" dirty="0" smtClean="0"/>
              <a:t> [] ile veya </a:t>
            </a:r>
            <a:r>
              <a:rPr lang="tr-TR" dirty="0" err="1" smtClean="0"/>
              <a:t>list</a:t>
            </a:r>
            <a:r>
              <a:rPr lang="tr-TR" dirty="0" smtClean="0"/>
              <a:t>() </a:t>
            </a:r>
            <a:r>
              <a:rPr lang="tr-TR" dirty="0" err="1" smtClean="0"/>
              <a:t>constructorı</a:t>
            </a:r>
            <a:r>
              <a:rPr lang="tr-TR" dirty="0" smtClean="0"/>
              <a:t> ile liste tanımlanabilir.</a:t>
            </a:r>
          </a:p>
          <a:p>
            <a:pPr algn="just"/>
            <a:endParaRPr lang="tr-TR" dirty="0"/>
          </a:p>
          <a:p>
            <a:pPr algn="just"/>
            <a:endParaRPr lang="tr-TR" dirty="0" smtClean="0"/>
          </a:p>
          <a:p>
            <a:pPr algn="just"/>
            <a:endParaRPr lang="tr-TR" dirty="0" smtClean="0"/>
          </a:p>
          <a:p>
            <a:pPr algn="just"/>
            <a:r>
              <a:rPr lang="tr-TR" dirty="0" smtClean="0"/>
              <a:t>Liste elemanlarına </a:t>
            </a:r>
            <a:r>
              <a:rPr lang="tr-TR" dirty="0" err="1" smtClean="0"/>
              <a:t>stringlerde</a:t>
            </a:r>
            <a:r>
              <a:rPr lang="tr-TR" dirty="0" smtClean="0"/>
              <a:t> olduğu gibi indisleri ile erişilebilir. İndisler 0’dan başlar ve son elemana kadar(listenin uzunluğunun 1 eksiği) gider. Elemanlara tersten erişmek içinde -1 indisi ile başlanarak bu sefer sola doğru -2, -3 … şeklinde ulaşılabilir.</a:t>
            </a:r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72472" y="3312336"/>
            <a:ext cx="4447051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liste = 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"deneme"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2.5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495767" y="4024645"/>
            <a:ext cx="5200463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liste1 =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list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"deneme"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2.5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2548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LİSTELER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Örnek:</a:t>
            </a:r>
            <a:endParaRPr lang="tr-TR" dirty="0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763109" y="2932936"/>
            <a:ext cx="4447051" cy="120032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liste = 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"deneme"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2.5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(liste[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(liste[-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Dikdörtgen 6"/>
          <p:cNvSpPr/>
          <p:nvPr/>
        </p:nvSpPr>
        <p:spPr>
          <a:xfrm>
            <a:off x="5411201" y="4401278"/>
            <a:ext cx="13695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400" dirty="0" err="1"/>
              <a:t>False</a:t>
            </a:r>
            <a:endParaRPr lang="tr-TR" sz="2400" dirty="0"/>
          </a:p>
          <a:p>
            <a:r>
              <a:rPr lang="tr-TR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488821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LİSTELER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algn="just"/>
            <a:r>
              <a:rPr lang="tr-TR" dirty="0" smtClean="0"/>
              <a:t>Listelerin elemanları değiştirilebilir(</a:t>
            </a:r>
            <a:r>
              <a:rPr lang="tr-TR" dirty="0" err="1" smtClean="0"/>
              <a:t>mutable</a:t>
            </a:r>
            <a:r>
              <a:rPr lang="tr-TR" dirty="0" smtClean="0"/>
              <a:t>). </a:t>
            </a:r>
            <a:r>
              <a:rPr lang="tr-TR" dirty="0" err="1" smtClean="0"/>
              <a:t>Stringlerin</a:t>
            </a:r>
            <a:r>
              <a:rPr lang="tr-TR" dirty="0" smtClean="0"/>
              <a:t> elemanları değiştirilemez!(</a:t>
            </a:r>
            <a:r>
              <a:rPr lang="tr-TR" dirty="0" err="1" smtClean="0"/>
              <a:t>immutable</a:t>
            </a:r>
            <a:r>
              <a:rPr lang="tr-TR" dirty="0" smtClean="0"/>
              <a:t>)</a:t>
            </a:r>
          </a:p>
          <a:p>
            <a:pPr algn="just"/>
            <a:endParaRPr lang="tr-TR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872474" y="3259687"/>
            <a:ext cx="4447051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liste = 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"deneme"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2.5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liste[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"test"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086748" y="4587325"/>
            <a:ext cx="2018501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"Zafer"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isim[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"e"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Metin kutusu 8"/>
          <p:cNvSpPr txBox="1"/>
          <p:nvPr/>
        </p:nvSpPr>
        <p:spPr>
          <a:xfrm>
            <a:off x="8319525" y="3444352"/>
            <a:ext cx="934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 smtClean="0"/>
              <a:t>Çalışır</a:t>
            </a:r>
            <a:endParaRPr lang="tr-TR" sz="2400" dirty="0"/>
          </a:p>
        </p:txBody>
      </p:sp>
      <p:sp>
        <p:nvSpPr>
          <p:cNvPr id="10" name="Metin kutusu 9"/>
          <p:cNvSpPr txBox="1"/>
          <p:nvPr/>
        </p:nvSpPr>
        <p:spPr>
          <a:xfrm>
            <a:off x="7105249" y="4771990"/>
            <a:ext cx="1372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2400" dirty="0" smtClean="0"/>
              <a:t>Çalışmaz!</a:t>
            </a:r>
            <a:endParaRPr lang="tr-TR" sz="2400" dirty="0"/>
          </a:p>
        </p:txBody>
      </p:sp>
    </p:spTree>
    <p:extLst>
      <p:ext uri="{BB962C8B-B14F-4D97-AF65-F5344CB8AC3E}">
        <p14:creationId xmlns:p14="http://schemas.microsoft.com/office/powerpoint/2010/main" val="3239306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LİSTE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en-US" dirty="0" smtClean="0"/>
              <a:t>append</a:t>
            </a:r>
            <a:r>
              <a:rPr lang="tr-TR" dirty="0" smtClean="0"/>
              <a:t>(): listenin sonuna eleman ekler</a:t>
            </a:r>
            <a:endParaRPr lang="en-US" dirty="0"/>
          </a:p>
          <a:p>
            <a:pPr algn="just"/>
            <a:r>
              <a:rPr lang="en-US" dirty="0" smtClean="0"/>
              <a:t>clear</a:t>
            </a:r>
            <a:r>
              <a:rPr lang="tr-TR" dirty="0"/>
              <a:t>()</a:t>
            </a:r>
            <a:r>
              <a:rPr lang="tr-TR" dirty="0" smtClean="0"/>
              <a:t>: listeyi tamamen boş hale getirir</a:t>
            </a:r>
            <a:endParaRPr lang="en-US" dirty="0"/>
          </a:p>
          <a:p>
            <a:pPr algn="just"/>
            <a:r>
              <a:rPr lang="en-US" dirty="0" smtClean="0"/>
              <a:t>copy</a:t>
            </a:r>
            <a:r>
              <a:rPr lang="tr-TR" dirty="0"/>
              <a:t>()</a:t>
            </a:r>
            <a:r>
              <a:rPr lang="tr-TR" dirty="0" smtClean="0"/>
              <a:t>: listeyi kopyalar</a:t>
            </a:r>
            <a:endParaRPr lang="en-US" dirty="0"/>
          </a:p>
          <a:p>
            <a:pPr algn="just"/>
            <a:r>
              <a:rPr lang="en-US" dirty="0" smtClean="0"/>
              <a:t>count</a:t>
            </a:r>
            <a:r>
              <a:rPr lang="tr-TR" dirty="0"/>
              <a:t>()</a:t>
            </a:r>
            <a:r>
              <a:rPr lang="tr-TR" dirty="0" smtClean="0"/>
              <a:t>: listedeki bir elemanın sayısını verir</a:t>
            </a:r>
            <a:endParaRPr lang="en-US" dirty="0"/>
          </a:p>
          <a:p>
            <a:pPr algn="just"/>
            <a:r>
              <a:rPr lang="en-US" dirty="0" smtClean="0"/>
              <a:t>extend</a:t>
            </a:r>
            <a:r>
              <a:rPr lang="tr-TR" dirty="0"/>
              <a:t>()</a:t>
            </a:r>
            <a:r>
              <a:rPr lang="tr-TR" dirty="0" smtClean="0"/>
              <a:t>: listeyi başka bir eleman ile genişletir</a:t>
            </a:r>
            <a:endParaRPr lang="en-US" dirty="0"/>
          </a:p>
          <a:p>
            <a:pPr algn="just"/>
            <a:r>
              <a:rPr lang="tr-TR" dirty="0" err="1" smtClean="0"/>
              <a:t>index</a:t>
            </a:r>
            <a:r>
              <a:rPr lang="tr-TR" dirty="0"/>
              <a:t>()</a:t>
            </a:r>
            <a:r>
              <a:rPr lang="tr-TR" dirty="0" smtClean="0"/>
              <a:t>: listedeki bir elemanın indisini verir</a:t>
            </a:r>
            <a:endParaRPr lang="en-US" dirty="0"/>
          </a:p>
          <a:p>
            <a:pPr algn="just"/>
            <a:r>
              <a:rPr lang="en-US" dirty="0" smtClean="0"/>
              <a:t>insert</a:t>
            </a:r>
            <a:r>
              <a:rPr lang="tr-TR" dirty="0"/>
              <a:t>()</a:t>
            </a:r>
            <a:r>
              <a:rPr lang="tr-TR" dirty="0" smtClean="0"/>
              <a:t>: listenin belirli bir indisine eleman eklemeyi sağlar</a:t>
            </a:r>
            <a:endParaRPr lang="en-US" dirty="0"/>
          </a:p>
          <a:p>
            <a:pPr algn="just"/>
            <a:r>
              <a:rPr lang="en-US" dirty="0" smtClean="0"/>
              <a:t>pop</a:t>
            </a:r>
            <a:r>
              <a:rPr lang="tr-TR" dirty="0"/>
              <a:t>()</a:t>
            </a:r>
            <a:r>
              <a:rPr lang="tr-TR" dirty="0" smtClean="0"/>
              <a:t>: varsayılan olarak liste sonundan eğer verilirse indisten değeri siler</a:t>
            </a:r>
            <a:endParaRPr lang="en-US" dirty="0" smtClean="0"/>
          </a:p>
          <a:p>
            <a:pPr algn="just"/>
            <a:r>
              <a:rPr lang="en-US" dirty="0" smtClean="0"/>
              <a:t>remove</a:t>
            </a:r>
            <a:r>
              <a:rPr lang="tr-TR" dirty="0"/>
              <a:t>()</a:t>
            </a:r>
            <a:r>
              <a:rPr lang="tr-TR" dirty="0" smtClean="0"/>
              <a:t>: verilen değeri listeden siler</a:t>
            </a:r>
            <a:endParaRPr lang="en-US" dirty="0" smtClean="0"/>
          </a:p>
          <a:p>
            <a:pPr marL="109728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974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LİSTE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/>
              <a:t>r</a:t>
            </a:r>
            <a:r>
              <a:rPr lang="tr-TR" dirty="0" err="1" smtClean="0"/>
              <a:t>everse</a:t>
            </a:r>
            <a:r>
              <a:rPr lang="tr-TR" dirty="0" smtClean="0"/>
              <a:t>(): listeyi ters çevirir</a:t>
            </a:r>
          </a:p>
          <a:p>
            <a:pPr algn="just"/>
            <a:r>
              <a:rPr lang="tr-TR" dirty="0" err="1"/>
              <a:t>s</a:t>
            </a:r>
            <a:r>
              <a:rPr lang="tr-TR" dirty="0" err="1" smtClean="0"/>
              <a:t>ort</a:t>
            </a:r>
            <a:r>
              <a:rPr lang="tr-TR" dirty="0" smtClean="0"/>
              <a:t>(): listeyi sıralar. Varsayılan olarak sayısal listeyi küçükten büyüğe </a:t>
            </a:r>
            <a:r>
              <a:rPr lang="tr-TR" dirty="0" err="1" smtClean="0"/>
              <a:t>metinsel</a:t>
            </a:r>
            <a:r>
              <a:rPr lang="tr-TR" dirty="0" smtClean="0"/>
              <a:t> listeyi harf sırasına göre sıralar. Hem </a:t>
            </a:r>
            <a:r>
              <a:rPr lang="tr-TR" dirty="0" err="1" smtClean="0"/>
              <a:t>metinsel</a:t>
            </a:r>
            <a:r>
              <a:rPr lang="tr-TR" dirty="0" smtClean="0"/>
              <a:t> hem sayısal ifadelerin olduğu listeleri sıralayamaz! Not: </a:t>
            </a:r>
            <a:r>
              <a:rPr lang="tr-TR" dirty="0" err="1" smtClean="0"/>
              <a:t>boolean</a:t>
            </a:r>
            <a:r>
              <a:rPr lang="tr-TR" dirty="0" smtClean="0"/>
              <a:t> </a:t>
            </a:r>
            <a:r>
              <a:rPr lang="tr-TR" dirty="0" err="1" smtClean="0"/>
              <a:t>elemanlarıda</a:t>
            </a:r>
            <a:r>
              <a:rPr lang="tr-TR" dirty="0" smtClean="0"/>
              <a:t> sıralayabilir </a:t>
            </a:r>
            <a:r>
              <a:rPr lang="tr-TR" dirty="0" err="1" smtClean="0"/>
              <a:t>False</a:t>
            </a:r>
            <a:r>
              <a:rPr lang="tr-TR" dirty="0" smtClean="0"/>
              <a:t> için 0 sayısal değerini True için 1 sayısal değerini kullanır.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6631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LİSTELER İLE STACK VE QUEUE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Listelerin sonuna eleman ekleyip(</a:t>
            </a:r>
            <a:r>
              <a:rPr lang="tr-TR" dirty="0" err="1" smtClean="0"/>
              <a:t>append</a:t>
            </a:r>
            <a:r>
              <a:rPr lang="tr-TR" dirty="0" smtClean="0"/>
              <a:t>()) sonundan eleman çıkarılırsa(pop()) LIFO(</a:t>
            </a:r>
            <a:r>
              <a:rPr lang="tr-TR" dirty="0" err="1" smtClean="0"/>
              <a:t>Last</a:t>
            </a:r>
            <a:r>
              <a:rPr lang="tr-TR" dirty="0" smtClean="0"/>
              <a:t> in First </a:t>
            </a:r>
            <a:r>
              <a:rPr lang="tr-TR" dirty="0" err="1" smtClean="0"/>
              <a:t>Out</a:t>
            </a:r>
            <a:r>
              <a:rPr lang="tr-TR" dirty="0" smtClean="0"/>
              <a:t> – Son gelen ilk çıkar) yöntemi kullanılarak </a:t>
            </a:r>
            <a:r>
              <a:rPr lang="tr-TR" dirty="0" err="1" smtClean="0"/>
              <a:t>stack</a:t>
            </a:r>
            <a:r>
              <a:rPr lang="tr-TR" dirty="0" smtClean="0"/>
              <a:t>(yığın) veri yapısı oluşturulabilir.</a:t>
            </a:r>
          </a:p>
          <a:p>
            <a:pPr algn="just"/>
            <a:r>
              <a:rPr lang="tr-TR" dirty="0"/>
              <a:t>Listelerin sonuna eleman ekleyip(</a:t>
            </a:r>
            <a:r>
              <a:rPr lang="tr-TR" dirty="0" err="1"/>
              <a:t>append</a:t>
            </a:r>
            <a:r>
              <a:rPr lang="tr-TR" dirty="0"/>
              <a:t>()) </a:t>
            </a:r>
            <a:r>
              <a:rPr lang="tr-TR" dirty="0" smtClean="0"/>
              <a:t>başından </a:t>
            </a:r>
            <a:r>
              <a:rPr lang="tr-TR" dirty="0"/>
              <a:t>eleman </a:t>
            </a:r>
            <a:r>
              <a:rPr lang="tr-TR" dirty="0" smtClean="0"/>
              <a:t>çıkarılırsa(pop(0)) </a:t>
            </a:r>
            <a:r>
              <a:rPr lang="tr-TR" dirty="0"/>
              <a:t>FIFO(First in First </a:t>
            </a:r>
            <a:r>
              <a:rPr lang="tr-TR" dirty="0" err="1"/>
              <a:t>Out</a:t>
            </a:r>
            <a:r>
              <a:rPr lang="tr-TR" dirty="0"/>
              <a:t> – İlk gelen ilk çıkar) yöntemi kullanılarak </a:t>
            </a:r>
            <a:r>
              <a:rPr lang="tr-TR" dirty="0" err="1" smtClean="0"/>
              <a:t>queue</a:t>
            </a:r>
            <a:r>
              <a:rPr lang="tr-TR" dirty="0" smtClean="0"/>
              <a:t>(kuyruk) </a:t>
            </a:r>
            <a:r>
              <a:rPr lang="tr-TR" dirty="0"/>
              <a:t>veri yapısı oluşturulabilir.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885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LİSTELER İÇİNDE LİSTE OLUŞTURMA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Liste içinde liste tanımlanabilir ve indisler ile ulaşılabilir.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447886" y="2872825"/>
            <a:ext cx="7296228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liste = 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"selam"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"deneme"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2.4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</a:t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(liste[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][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5925921" y="3950315"/>
            <a:ext cx="3401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513928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DEMETLER(TUPLES)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Tuple</a:t>
            </a:r>
            <a:r>
              <a:rPr lang="tr-TR" dirty="0" smtClean="0"/>
              <a:t>, sıralı değişmez nesneler dizisidir. </a:t>
            </a:r>
            <a:r>
              <a:rPr lang="tr-TR" dirty="0" err="1"/>
              <a:t>Python’da</a:t>
            </a:r>
            <a:r>
              <a:rPr lang="tr-TR" dirty="0"/>
              <a:t> </a:t>
            </a:r>
            <a:r>
              <a:rPr lang="tr-TR" dirty="0" smtClean="0"/>
              <a:t>() </a:t>
            </a:r>
            <a:r>
              <a:rPr lang="tr-TR" dirty="0"/>
              <a:t>ile veya </a:t>
            </a:r>
            <a:r>
              <a:rPr lang="tr-TR" dirty="0" err="1" smtClean="0"/>
              <a:t>tuple</a:t>
            </a:r>
            <a:r>
              <a:rPr lang="tr-TR" dirty="0" smtClean="0"/>
              <a:t>() </a:t>
            </a:r>
            <a:r>
              <a:rPr lang="tr-TR" dirty="0" err="1"/>
              <a:t>constructorı</a:t>
            </a:r>
            <a:r>
              <a:rPr lang="tr-TR" dirty="0"/>
              <a:t> ile </a:t>
            </a:r>
            <a:r>
              <a:rPr lang="tr-TR" dirty="0" err="1" smtClean="0"/>
              <a:t>tuple</a:t>
            </a:r>
            <a:r>
              <a:rPr lang="tr-TR" dirty="0" smtClean="0"/>
              <a:t> </a:t>
            </a:r>
            <a:r>
              <a:rPr lang="tr-TR" dirty="0"/>
              <a:t>tanımlanabilir</a:t>
            </a:r>
            <a:r>
              <a:rPr lang="tr-TR" dirty="0" smtClean="0"/>
              <a:t>. </a:t>
            </a:r>
            <a:r>
              <a:rPr lang="tr-TR" dirty="0" err="1" smtClean="0"/>
              <a:t>Tuple</a:t>
            </a:r>
            <a:r>
              <a:rPr lang="tr-TR" dirty="0" smtClean="0"/>
              <a:t> elemanları doğrudan değiştirilemez! Listelere göre daha hızlıdırlar.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2108850" y="3857481"/>
            <a:ext cx="7974299" cy="1938992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demet = (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"selam"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3.4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tuple tanımlama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demet1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tuple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((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"deneme"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))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tuple tanımlama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(demet1[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elemanın indisi ile okunabilir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demet(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!değişiklik yapılamaz hata verir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demet[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 =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"ornek"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#!değişiklik yapılamaz hata verir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8438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TUPLE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Tuple</a:t>
            </a:r>
            <a:r>
              <a:rPr lang="tr-TR" dirty="0" smtClean="0"/>
              <a:t> elemanları doğrudan değiştirilemediği için 2 adet önemli </a:t>
            </a:r>
            <a:r>
              <a:rPr lang="tr-TR" dirty="0" err="1" smtClean="0"/>
              <a:t>metota</a:t>
            </a:r>
            <a:r>
              <a:rPr lang="tr-TR" dirty="0" smtClean="0"/>
              <a:t> sahiptir.</a:t>
            </a:r>
          </a:p>
          <a:p>
            <a:pPr algn="just"/>
            <a:r>
              <a:rPr lang="tr-TR" dirty="0" err="1"/>
              <a:t>c</a:t>
            </a:r>
            <a:r>
              <a:rPr lang="tr-TR" dirty="0" err="1" smtClean="0"/>
              <a:t>ount</a:t>
            </a:r>
            <a:r>
              <a:rPr lang="tr-TR" dirty="0" smtClean="0"/>
              <a:t>(): Bir elemanın </a:t>
            </a:r>
            <a:r>
              <a:rPr lang="tr-TR" dirty="0" err="1" smtClean="0"/>
              <a:t>tupleda</a:t>
            </a:r>
            <a:r>
              <a:rPr lang="tr-TR" dirty="0" smtClean="0"/>
              <a:t> kaç tane olduğunu verir.</a:t>
            </a:r>
          </a:p>
          <a:p>
            <a:pPr algn="just"/>
            <a:r>
              <a:rPr lang="tr-TR" dirty="0" err="1"/>
              <a:t>i</a:t>
            </a:r>
            <a:r>
              <a:rPr lang="tr-TR" dirty="0" err="1" smtClean="0"/>
              <a:t>ndex</a:t>
            </a:r>
            <a:r>
              <a:rPr lang="tr-TR" dirty="0" smtClean="0"/>
              <a:t>(): Bir elemanın indisini verir.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2045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KÜMELER(SETS)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Set, sırasız tekil elemanlar topluluğudur. </a:t>
            </a:r>
            <a:r>
              <a:rPr lang="tr-TR" dirty="0" err="1" smtClean="0"/>
              <a:t>Python’da</a:t>
            </a:r>
            <a:r>
              <a:rPr lang="tr-TR" dirty="0" smtClean="0"/>
              <a:t> {} ile veya set() </a:t>
            </a:r>
            <a:r>
              <a:rPr lang="tr-TR" dirty="0" err="1" smtClean="0"/>
              <a:t>contructorı</a:t>
            </a:r>
            <a:r>
              <a:rPr lang="tr-TR" dirty="0" smtClean="0"/>
              <a:t> ile set tanımlanabilir. Matematiksel kümeler olarak düşünebilir. Set içerisinde aynı elemandan birden çok olamaz! Set elemanları sıralı olmak zorunda değildir dolayısıyla set elemanlarına erişim için indis kullanılamaz!</a:t>
            </a: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486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KÜMELER(SETS)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Örnek:</a:t>
            </a:r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402200" y="2855213"/>
            <a:ext cx="7387600" cy="1200329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kume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 = {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"test"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ornek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False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5.4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set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tanimi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/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kume1 =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set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({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1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3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6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2.3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"selam"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CF8E6D"/>
                </a:solidFill>
                <a:effectLst/>
                <a:latin typeface="JetBrains Mono"/>
              </a:rPr>
              <a:t>True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})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set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tanimi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/>
            </a:r>
            <a:b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kume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) 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 set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elemanlari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</a:t>
            </a:r>
            <a:r>
              <a:rPr kumimoji="0" lang="tr-TR" altLang="tr-TR" sz="2400" b="0" i="0" u="none" strike="noStrike" cap="none" normalizeH="0" baseline="0" dirty="0" err="1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sirali</a:t>
            </a:r>
            <a:r>
              <a:rPr kumimoji="0" lang="tr-TR" altLang="tr-TR" sz="2400" b="0" i="0" u="none" strike="noStrike" cap="none" normalizeH="0" baseline="0" dirty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 değildir!</a:t>
            </a:r>
            <a:endParaRPr kumimoji="0" lang="tr-TR" altLang="tr-TR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Dikdörtgen 5"/>
          <p:cNvSpPr/>
          <p:nvPr/>
        </p:nvSpPr>
        <p:spPr>
          <a:xfrm>
            <a:off x="4298392" y="4271303"/>
            <a:ext cx="35952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dirty="0"/>
              <a:t>{</a:t>
            </a:r>
            <a:r>
              <a:rPr lang="tr-TR" sz="2400" dirty="0" err="1"/>
              <a:t>False</a:t>
            </a:r>
            <a:r>
              <a:rPr lang="tr-TR" sz="2400" dirty="0"/>
              <a:t>, 1, '</a:t>
            </a:r>
            <a:r>
              <a:rPr lang="tr-TR" sz="2400" dirty="0" err="1"/>
              <a:t>ornek</a:t>
            </a:r>
            <a:r>
              <a:rPr lang="tr-TR" sz="2400" dirty="0"/>
              <a:t>', 5.4, 'test'}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2402200" y="5084206"/>
            <a:ext cx="7274748" cy="461665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(kume[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0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7A7E85"/>
                </a:solidFill>
                <a:effectLst/>
                <a:latin typeface="JetBrains Mono"/>
              </a:rPr>
              <a:t>#set elemanlarina indis ile erişilemez!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806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SET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add</a:t>
            </a:r>
            <a:r>
              <a:rPr lang="tr-TR" dirty="0" smtClean="0"/>
              <a:t>(): Set’e eleman ekler.</a:t>
            </a:r>
            <a:endParaRPr lang="tr-TR" dirty="0"/>
          </a:p>
          <a:p>
            <a:pPr algn="just"/>
            <a:r>
              <a:rPr lang="tr-TR" dirty="0" err="1" smtClean="0"/>
              <a:t>clear</a:t>
            </a:r>
            <a:r>
              <a:rPr lang="tr-TR" dirty="0"/>
              <a:t>()</a:t>
            </a:r>
            <a:r>
              <a:rPr lang="tr-TR" dirty="0" smtClean="0"/>
              <a:t>: Set’i tamamen temizler</a:t>
            </a:r>
            <a:endParaRPr lang="tr-TR" dirty="0"/>
          </a:p>
          <a:p>
            <a:pPr algn="just"/>
            <a:r>
              <a:rPr lang="tr-TR" dirty="0" err="1" smtClean="0"/>
              <a:t>copy</a:t>
            </a:r>
            <a:r>
              <a:rPr lang="tr-TR" dirty="0"/>
              <a:t>()</a:t>
            </a:r>
            <a:r>
              <a:rPr lang="tr-TR" dirty="0" smtClean="0"/>
              <a:t>: Set’i kopyalar</a:t>
            </a:r>
            <a:endParaRPr lang="tr-TR" dirty="0"/>
          </a:p>
          <a:p>
            <a:pPr algn="just"/>
            <a:r>
              <a:rPr lang="tr-TR" dirty="0" err="1" smtClean="0"/>
              <a:t>difference</a:t>
            </a:r>
            <a:r>
              <a:rPr lang="tr-TR" dirty="0"/>
              <a:t>()</a:t>
            </a:r>
            <a:r>
              <a:rPr lang="tr-TR" dirty="0" smtClean="0"/>
              <a:t>: İlgili Set ile bir başka Set’in farkını alır</a:t>
            </a:r>
            <a:endParaRPr lang="tr-TR" dirty="0"/>
          </a:p>
          <a:p>
            <a:pPr algn="just"/>
            <a:r>
              <a:rPr lang="tr-TR" dirty="0" err="1" smtClean="0"/>
              <a:t>difference_update</a:t>
            </a:r>
            <a:r>
              <a:rPr lang="tr-TR" dirty="0"/>
              <a:t>()</a:t>
            </a:r>
            <a:r>
              <a:rPr lang="tr-TR" dirty="0" smtClean="0"/>
              <a:t>: </a:t>
            </a:r>
            <a:r>
              <a:rPr lang="tr-TR" dirty="0"/>
              <a:t>İlgili Set ile bir başka Set’in farkını </a:t>
            </a:r>
            <a:r>
              <a:rPr lang="tr-TR" dirty="0" smtClean="0"/>
              <a:t>alır ve günceller</a:t>
            </a:r>
            <a:endParaRPr lang="tr-TR" dirty="0"/>
          </a:p>
          <a:p>
            <a:pPr algn="just"/>
            <a:r>
              <a:rPr lang="tr-TR" dirty="0" err="1" smtClean="0"/>
              <a:t>discard</a:t>
            </a:r>
            <a:r>
              <a:rPr lang="tr-TR" dirty="0"/>
              <a:t>()</a:t>
            </a:r>
            <a:r>
              <a:rPr lang="tr-TR" dirty="0" smtClean="0"/>
              <a:t>: Set’teki verilen elemanı siler</a:t>
            </a:r>
            <a:endParaRPr lang="tr-TR" dirty="0"/>
          </a:p>
          <a:p>
            <a:pPr algn="just"/>
            <a:r>
              <a:rPr lang="tr-TR" dirty="0" err="1" smtClean="0"/>
              <a:t>intersection</a:t>
            </a:r>
            <a:r>
              <a:rPr lang="tr-TR" dirty="0"/>
              <a:t>()</a:t>
            </a:r>
            <a:r>
              <a:rPr lang="tr-TR" dirty="0" smtClean="0"/>
              <a:t>: </a:t>
            </a:r>
            <a:r>
              <a:rPr lang="tr-TR" dirty="0"/>
              <a:t>İlgili Set ile bir başka Set’in </a:t>
            </a:r>
            <a:r>
              <a:rPr lang="tr-TR" dirty="0" err="1" smtClean="0"/>
              <a:t>kesişimini</a:t>
            </a:r>
            <a:r>
              <a:rPr lang="tr-TR" dirty="0" smtClean="0"/>
              <a:t> alır</a:t>
            </a:r>
          </a:p>
          <a:p>
            <a:pPr algn="just"/>
            <a:r>
              <a:rPr lang="tr-TR" dirty="0" err="1" smtClean="0"/>
              <a:t>intersection_update</a:t>
            </a:r>
            <a:r>
              <a:rPr lang="tr-TR" dirty="0"/>
              <a:t>()</a:t>
            </a:r>
            <a:r>
              <a:rPr lang="tr-TR" dirty="0" smtClean="0"/>
              <a:t>: </a:t>
            </a:r>
            <a:r>
              <a:rPr lang="tr-TR" dirty="0"/>
              <a:t>İlgili Set ile bir başka Set’in </a:t>
            </a:r>
            <a:r>
              <a:rPr lang="tr-TR" dirty="0" err="1" smtClean="0"/>
              <a:t>kesişimini</a:t>
            </a:r>
            <a:r>
              <a:rPr lang="tr-TR" dirty="0" smtClean="0"/>
              <a:t> alır ve günceller</a:t>
            </a:r>
          </a:p>
          <a:p>
            <a:pPr algn="just"/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29664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SET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isdisjoint</a:t>
            </a:r>
            <a:r>
              <a:rPr lang="tr-TR" dirty="0"/>
              <a:t>()</a:t>
            </a:r>
            <a:r>
              <a:rPr lang="tr-TR" dirty="0" smtClean="0"/>
              <a:t>: 2 setin </a:t>
            </a:r>
            <a:r>
              <a:rPr lang="tr-TR" dirty="0" err="1" smtClean="0"/>
              <a:t>kesişiminin</a:t>
            </a:r>
            <a:r>
              <a:rPr lang="tr-TR" dirty="0" smtClean="0"/>
              <a:t> boş olup olmadığını sorgular</a:t>
            </a:r>
          </a:p>
          <a:p>
            <a:pPr algn="just"/>
            <a:r>
              <a:rPr lang="en-US" dirty="0" err="1" smtClean="0"/>
              <a:t>issubset</a:t>
            </a:r>
            <a:r>
              <a:rPr lang="tr-TR" dirty="0"/>
              <a:t>()</a:t>
            </a:r>
            <a:r>
              <a:rPr lang="tr-TR" dirty="0" smtClean="0"/>
              <a:t>: Bir Set’in bir başka Set’in altkümesi olup olmadığını sorgular</a:t>
            </a:r>
            <a:endParaRPr lang="en-US" dirty="0"/>
          </a:p>
          <a:p>
            <a:pPr algn="just"/>
            <a:r>
              <a:rPr lang="en-US" dirty="0" err="1" smtClean="0"/>
              <a:t>İssuperset</a:t>
            </a:r>
            <a:r>
              <a:rPr lang="tr-TR" dirty="0"/>
              <a:t>()</a:t>
            </a:r>
            <a:r>
              <a:rPr lang="tr-TR" dirty="0" smtClean="0"/>
              <a:t>: </a:t>
            </a:r>
            <a:r>
              <a:rPr lang="tr-TR" dirty="0"/>
              <a:t>Bir Set’in bir başka </a:t>
            </a:r>
            <a:r>
              <a:rPr lang="tr-TR" dirty="0" smtClean="0"/>
              <a:t>Set’i kapsayıp kapsamadığını </a:t>
            </a:r>
            <a:r>
              <a:rPr lang="tr-TR" dirty="0"/>
              <a:t>sorgular</a:t>
            </a:r>
            <a:endParaRPr lang="en-US" dirty="0"/>
          </a:p>
          <a:p>
            <a:pPr algn="just"/>
            <a:r>
              <a:rPr lang="en-US" dirty="0" smtClean="0"/>
              <a:t>pop</a:t>
            </a:r>
            <a:r>
              <a:rPr lang="tr-TR" dirty="0"/>
              <a:t>()</a:t>
            </a:r>
            <a:r>
              <a:rPr lang="tr-TR" dirty="0" smtClean="0"/>
              <a:t>: Set yapısı sıralı olmadığından rastgele bir elemanı siler</a:t>
            </a:r>
            <a:endParaRPr lang="en-US" dirty="0" smtClean="0"/>
          </a:p>
          <a:p>
            <a:pPr algn="just"/>
            <a:r>
              <a:rPr lang="en-US" dirty="0" smtClean="0"/>
              <a:t>remove</a:t>
            </a:r>
            <a:r>
              <a:rPr lang="tr-TR" dirty="0" smtClean="0"/>
              <a:t>(): Verilen elemanı Set içinden siler</a:t>
            </a:r>
            <a:endParaRPr lang="en-US" dirty="0" smtClean="0"/>
          </a:p>
          <a:p>
            <a:pPr algn="just"/>
            <a:r>
              <a:rPr lang="en-US" dirty="0" err="1" smtClean="0"/>
              <a:t>symmetric_difference</a:t>
            </a:r>
            <a:r>
              <a:rPr lang="tr-TR" dirty="0"/>
              <a:t>()</a:t>
            </a:r>
            <a:r>
              <a:rPr lang="tr-TR" dirty="0" smtClean="0"/>
              <a:t>: 2 Set arasındaki simetrik fark işlemini gerçekleştirir.</a:t>
            </a:r>
            <a:endParaRPr lang="en-US" dirty="0"/>
          </a:p>
          <a:p>
            <a:pPr algn="just"/>
            <a:r>
              <a:rPr lang="en-US" dirty="0" err="1" smtClean="0"/>
              <a:t>symmetric_difference_update</a:t>
            </a:r>
            <a:r>
              <a:rPr lang="tr-TR" dirty="0"/>
              <a:t>()</a:t>
            </a:r>
            <a:r>
              <a:rPr lang="tr-TR" dirty="0" smtClean="0"/>
              <a:t>: </a:t>
            </a:r>
            <a:r>
              <a:rPr lang="tr-TR" dirty="0"/>
              <a:t>2 Set arasındaki simetrik fark işlemini </a:t>
            </a:r>
            <a:r>
              <a:rPr lang="tr-TR" dirty="0" smtClean="0"/>
              <a:t>gerçekleştirir ve günceller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435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SET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en-US" dirty="0" smtClean="0"/>
              <a:t>union</a:t>
            </a:r>
            <a:r>
              <a:rPr lang="tr-TR" dirty="0"/>
              <a:t>()</a:t>
            </a:r>
            <a:r>
              <a:rPr lang="tr-TR" dirty="0" smtClean="0"/>
              <a:t>: 2 Set için birleşim işlemini gerçekleştirir.</a:t>
            </a:r>
            <a:endParaRPr lang="en-US" dirty="0"/>
          </a:p>
          <a:p>
            <a:pPr algn="just"/>
            <a:r>
              <a:rPr lang="en-US" dirty="0" smtClean="0"/>
              <a:t>update</a:t>
            </a:r>
            <a:r>
              <a:rPr lang="tr-TR" dirty="0"/>
              <a:t>()</a:t>
            </a:r>
            <a:r>
              <a:rPr lang="tr-TR" dirty="0" smtClean="0"/>
              <a:t>: Set için güncelleme işlemini yapar.</a:t>
            </a:r>
          </a:p>
        </p:txBody>
      </p:sp>
    </p:spTree>
    <p:extLst>
      <p:ext uri="{BB962C8B-B14F-4D97-AF65-F5344CB8AC3E}">
        <p14:creationId xmlns:p14="http://schemas.microsoft.com/office/powerpoint/2010/main" val="2776705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SÖZLÜKLER(DICTIONARIES)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smtClean="0"/>
              <a:t>Dictionary, birbirlerinden virgüllerle ayrılmış ‘</a:t>
            </a:r>
            <a:r>
              <a:rPr lang="tr-TR" dirty="0" err="1" smtClean="0"/>
              <a:t>anahtar:değer</a:t>
            </a:r>
            <a:r>
              <a:rPr lang="tr-TR" dirty="0" smtClean="0"/>
              <a:t>’/’</a:t>
            </a:r>
            <a:r>
              <a:rPr lang="tr-TR" dirty="0" err="1" smtClean="0"/>
              <a:t>key:value</a:t>
            </a:r>
            <a:r>
              <a:rPr lang="tr-TR" dirty="0" smtClean="0"/>
              <a:t>’ şeklinde eşleşen veri yapılarıdır. </a:t>
            </a:r>
            <a:r>
              <a:rPr lang="tr-TR" dirty="0" err="1" smtClean="0"/>
              <a:t>Python’da</a:t>
            </a:r>
            <a:r>
              <a:rPr lang="tr-TR" dirty="0" smtClean="0"/>
              <a:t> {} veya </a:t>
            </a:r>
            <a:r>
              <a:rPr lang="tr-TR" dirty="0" err="1" smtClean="0"/>
              <a:t>dict</a:t>
            </a:r>
            <a:r>
              <a:rPr lang="tr-TR" dirty="0" smtClean="0"/>
              <a:t>() </a:t>
            </a:r>
            <a:r>
              <a:rPr lang="tr-TR" dirty="0" err="1" smtClean="0"/>
              <a:t>constructorı</a:t>
            </a:r>
            <a:r>
              <a:rPr lang="tr-TR" dirty="0" smtClean="0"/>
              <a:t> ile </a:t>
            </a:r>
            <a:r>
              <a:rPr lang="tr-TR" dirty="0" err="1" smtClean="0"/>
              <a:t>dictionary</a:t>
            </a:r>
            <a:r>
              <a:rPr lang="tr-TR" dirty="0" smtClean="0"/>
              <a:t> tanımlanabilir. Sözlük değerleri değiştirilebilir.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3705762" y="3690510"/>
            <a:ext cx="4780476" cy="83099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sozluk = {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"isim"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"Zafer"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,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"yas"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: 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2AACB8"/>
                </a:solidFill>
                <a:effectLst/>
                <a:latin typeface="JetBrains Mono"/>
              </a:rPr>
              <a:t>29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}</a:t>
            </a:r>
            <a:b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</a:b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8888C6"/>
                </a:solidFill>
                <a:effectLst/>
                <a:latin typeface="JetBrains Mono"/>
              </a:rPr>
              <a:t>print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(sozluk[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6AAB73"/>
                </a:solidFill>
                <a:effectLst/>
                <a:latin typeface="JetBrains Mono"/>
              </a:rPr>
              <a:t>"yas"</a:t>
            </a:r>
            <a:r>
              <a:rPr kumimoji="0" lang="tr-TR" altLang="tr-TR" sz="2400" b="0" i="0" u="none" strike="noStrike" cap="none" normalizeH="0" baseline="0" smtClean="0">
                <a:ln>
                  <a:noFill/>
                </a:ln>
                <a:solidFill>
                  <a:srgbClr val="BCBEC4"/>
                </a:solidFill>
                <a:effectLst/>
                <a:latin typeface="JetBrains Mono"/>
              </a:rPr>
              <a:t>])</a:t>
            </a:r>
            <a:endParaRPr kumimoji="0" lang="tr-TR" alt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Dikdörtgen 4"/>
          <p:cNvSpPr/>
          <p:nvPr/>
        </p:nvSpPr>
        <p:spPr>
          <a:xfrm>
            <a:off x="5848175" y="4686271"/>
            <a:ext cx="4956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400" dirty="0"/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4483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DICTIONARY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tr-TR" dirty="0" err="1" smtClean="0"/>
              <a:t>clear</a:t>
            </a:r>
            <a:r>
              <a:rPr lang="tr-TR" dirty="0" smtClean="0"/>
              <a:t>: </a:t>
            </a:r>
            <a:r>
              <a:rPr lang="tr-TR" dirty="0" err="1" smtClean="0"/>
              <a:t>Dictionary’i</a:t>
            </a:r>
            <a:r>
              <a:rPr lang="tr-TR" dirty="0" smtClean="0"/>
              <a:t> tamamen temizler</a:t>
            </a:r>
            <a:endParaRPr lang="en-US" dirty="0"/>
          </a:p>
          <a:p>
            <a:pPr algn="just"/>
            <a:r>
              <a:rPr lang="en-US" dirty="0" smtClean="0"/>
              <a:t>copy</a:t>
            </a:r>
            <a:r>
              <a:rPr lang="tr-TR" dirty="0" smtClean="0"/>
              <a:t>: </a:t>
            </a:r>
            <a:r>
              <a:rPr lang="tr-TR" dirty="0" err="1"/>
              <a:t>Dictionary’i</a:t>
            </a:r>
            <a:r>
              <a:rPr lang="tr-TR" dirty="0"/>
              <a:t> </a:t>
            </a:r>
            <a:r>
              <a:rPr lang="tr-TR" dirty="0" smtClean="0"/>
              <a:t>kopyalar</a:t>
            </a:r>
            <a:endParaRPr lang="en-US" dirty="0"/>
          </a:p>
          <a:p>
            <a:pPr algn="just"/>
            <a:r>
              <a:rPr lang="en-US" dirty="0" err="1" smtClean="0"/>
              <a:t>fromkeys</a:t>
            </a:r>
            <a:r>
              <a:rPr lang="tr-TR" dirty="0" smtClean="0"/>
              <a:t>: Belirli bir anahtar kümesinden yeni bir </a:t>
            </a:r>
            <a:r>
              <a:rPr lang="tr-TR" dirty="0" err="1" smtClean="0"/>
              <a:t>dictionary</a:t>
            </a:r>
            <a:r>
              <a:rPr lang="tr-TR" dirty="0" smtClean="0"/>
              <a:t> oluşturur</a:t>
            </a:r>
            <a:endParaRPr lang="en-US" dirty="0"/>
          </a:p>
          <a:p>
            <a:pPr algn="just"/>
            <a:r>
              <a:rPr lang="en-US" dirty="0" smtClean="0"/>
              <a:t>get</a:t>
            </a:r>
            <a:r>
              <a:rPr lang="tr-TR" dirty="0" smtClean="0"/>
              <a:t>: İlgili </a:t>
            </a:r>
            <a:r>
              <a:rPr lang="tr-TR" dirty="0" err="1" smtClean="0"/>
              <a:t>key</a:t>
            </a:r>
            <a:r>
              <a:rPr lang="tr-TR" dirty="0" smtClean="0"/>
              <a:t>(anahtar) değerinin karşılığı değeri(</a:t>
            </a:r>
            <a:r>
              <a:rPr lang="tr-TR" dirty="0" err="1" smtClean="0"/>
              <a:t>value</a:t>
            </a:r>
            <a:r>
              <a:rPr lang="tr-TR" dirty="0" smtClean="0"/>
              <a:t>) getirir</a:t>
            </a:r>
            <a:endParaRPr lang="en-US" dirty="0"/>
          </a:p>
          <a:p>
            <a:pPr algn="just"/>
            <a:r>
              <a:rPr lang="en-US" dirty="0" smtClean="0"/>
              <a:t>items</a:t>
            </a:r>
            <a:r>
              <a:rPr lang="tr-TR" dirty="0" smtClean="0"/>
              <a:t>: </a:t>
            </a:r>
            <a:r>
              <a:rPr lang="tr-TR" dirty="0" err="1" smtClean="0"/>
              <a:t>Dictionary’de</a:t>
            </a:r>
            <a:r>
              <a:rPr lang="tr-TR" dirty="0" smtClean="0"/>
              <a:t> bulunan tüm anahtar-değer ikililerini verir</a:t>
            </a:r>
            <a:endParaRPr lang="en-US" dirty="0" smtClean="0"/>
          </a:p>
          <a:p>
            <a:pPr algn="just"/>
            <a:r>
              <a:rPr lang="tr-TR" dirty="0" err="1" smtClean="0"/>
              <a:t>keys</a:t>
            </a:r>
            <a:r>
              <a:rPr lang="tr-TR" dirty="0" smtClean="0"/>
              <a:t>: </a:t>
            </a:r>
            <a:r>
              <a:rPr lang="tr-TR" dirty="0" err="1" smtClean="0"/>
              <a:t>Dictionary’de</a:t>
            </a:r>
            <a:r>
              <a:rPr lang="tr-TR" dirty="0" smtClean="0"/>
              <a:t> bulunan anahtar(</a:t>
            </a:r>
            <a:r>
              <a:rPr lang="tr-TR" dirty="0" err="1" smtClean="0"/>
              <a:t>key</a:t>
            </a:r>
            <a:r>
              <a:rPr lang="tr-TR" dirty="0" smtClean="0"/>
              <a:t>) değerleri verir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02707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tr-TR" dirty="0" smtClean="0"/>
              <a:t>ÖNEMLİ DICTIONARY METOTLARI</a:t>
            </a:r>
            <a:endParaRPr lang="tr-TR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algn="just"/>
            <a:r>
              <a:rPr lang="en-US" dirty="0" smtClean="0"/>
              <a:t>pop</a:t>
            </a:r>
            <a:r>
              <a:rPr lang="tr-TR" dirty="0" smtClean="0"/>
              <a:t>: </a:t>
            </a:r>
            <a:r>
              <a:rPr lang="tr-TR" dirty="0" err="1" smtClean="0"/>
              <a:t>Dictionary’den</a:t>
            </a:r>
            <a:r>
              <a:rPr lang="tr-TR" dirty="0" smtClean="0"/>
              <a:t> verilen anahtarı sahip değeri siler</a:t>
            </a:r>
            <a:endParaRPr lang="en-US" dirty="0" smtClean="0"/>
          </a:p>
          <a:p>
            <a:pPr algn="just"/>
            <a:r>
              <a:rPr lang="en-US" dirty="0" err="1" smtClean="0"/>
              <a:t>popitem</a:t>
            </a:r>
            <a:r>
              <a:rPr lang="tr-TR" dirty="0" smtClean="0"/>
              <a:t>: </a:t>
            </a:r>
            <a:r>
              <a:rPr lang="tr-TR" dirty="0" err="1" smtClean="0"/>
              <a:t>Dictionary’nin</a:t>
            </a:r>
            <a:r>
              <a:rPr lang="tr-TR" dirty="0" smtClean="0"/>
              <a:t> en sonundaki anahtar-değeri çıkarır</a:t>
            </a:r>
            <a:endParaRPr lang="en-US" dirty="0" smtClean="0"/>
          </a:p>
          <a:p>
            <a:pPr algn="just"/>
            <a:r>
              <a:rPr lang="en-US" dirty="0" err="1" smtClean="0"/>
              <a:t>setdefault</a:t>
            </a:r>
            <a:r>
              <a:rPr lang="tr-TR" dirty="0" smtClean="0"/>
              <a:t>: </a:t>
            </a:r>
            <a:r>
              <a:rPr lang="tr-TR" dirty="0" err="1" smtClean="0"/>
              <a:t>Dictionary’de</a:t>
            </a:r>
            <a:r>
              <a:rPr lang="tr-TR" dirty="0" smtClean="0"/>
              <a:t> varsa anahtarın değerini yoksa </a:t>
            </a:r>
            <a:r>
              <a:rPr lang="tr-TR" dirty="0" err="1" smtClean="0"/>
              <a:t>default</a:t>
            </a:r>
            <a:r>
              <a:rPr lang="tr-TR" dirty="0" smtClean="0"/>
              <a:t> değeri getirir.</a:t>
            </a:r>
            <a:endParaRPr lang="en-US" dirty="0" smtClean="0"/>
          </a:p>
          <a:p>
            <a:pPr algn="just"/>
            <a:r>
              <a:rPr lang="tr-TR" dirty="0" err="1" smtClean="0"/>
              <a:t>update</a:t>
            </a:r>
            <a:r>
              <a:rPr lang="tr-TR" dirty="0" smtClean="0"/>
              <a:t>: </a:t>
            </a:r>
            <a:r>
              <a:rPr lang="tr-TR" dirty="0" err="1" smtClean="0"/>
              <a:t>Dictionary’i</a:t>
            </a:r>
            <a:r>
              <a:rPr lang="tr-TR" dirty="0" smtClean="0"/>
              <a:t> başka bir </a:t>
            </a:r>
            <a:r>
              <a:rPr lang="tr-TR" dirty="0" err="1" smtClean="0"/>
              <a:t>dictionary</a:t>
            </a:r>
            <a:r>
              <a:rPr lang="tr-TR" dirty="0" smtClean="0"/>
              <a:t> ile güncellemek için kullanılır</a:t>
            </a:r>
            <a:endParaRPr lang="en-US" dirty="0" smtClean="0"/>
          </a:p>
          <a:p>
            <a:pPr algn="just"/>
            <a:r>
              <a:rPr lang="en-US" dirty="0" smtClean="0"/>
              <a:t>values</a:t>
            </a:r>
            <a:r>
              <a:rPr lang="tr-TR" dirty="0" smtClean="0"/>
              <a:t>: </a:t>
            </a:r>
            <a:r>
              <a:rPr lang="tr-TR" dirty="0" err="1" smtClean="0"/>
              <a:t>Dictionary’de</a:t>
            </a:r>
            <a:r>
              <a:rPr lang="tr-TR" dirty="0" smtClean="0"/>
              <a:t> bulunan </a:t>
            </a:r>
            <a:r>
              <a:rPr lang="tr-TR" dirty="0" err="1" smtClean="0"/>
              <a:t>value</a:t>
            </a:r>
            <a:r>
              <a:rPr lang="tr-TR" dirty="0" smtClean="0"/>
              <a:t>(değer) </a:t>
            </a:r>
            <a:r>
              <a:rPr lang="tr-TR" dirty="0" err="1" smtClean="0"/>
              <a:t>ları</a:t>
            </a:r>
            <a:r>
              <a:rPr lang="tr-TR" smtClean="0"/>
              <a:t> gösterir.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923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ğitim sunusu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225310_TF03460604" id="{F6EFC989-8B6A-426D-8CC8-42909735A4A0}" vid="{6F0D95CE-7106-4C3E-8D98-EE1220DA24E4}"/>
    </a:ext>
  </a:extLst>
</a:theme>
</file>

<file path=ppt/theme/theme2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is Teması">
  <a:themeElements>
    <a:clrScheme name="Green Yellow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Calibri">
      <a:maj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Eğitim sunusu</Template>
  <TotalTime>1637</TotalTime>
  <Words>1644</Words>
  <Application>Microsoft Office PowerPoint</Application>
  <PresentationFormat>Geniş ekran</PresentationFormat>
  <Paragraphs>144</Paragraphs>
  <Slides>18</Slides>
  <Notes>18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18</vt:i4>
      </vt:variant>
    </vt:vector>
  </HeadingPairs>
  <TitlesOfParts>
    <vt:vector size="24" baseType="lpstr">
      <vt:lpstr>Arial</vt:lpstr>
      <vt:lpstr>Calibri</vt:lpstr>
      <vt:lpstr>Georgia</vt:lpstr>
      <vt:lpstr>JetBrains Mono</vt:lpstr>
      <vt:lpstr>Wingdings 2</vt:lpstr>
      <vt:lpstr>Eğitim sunusu</vt:lpstr>
      <vt:lpstr>Paralel Hesaplama</vt:lpstr>
      <vt:lpstr>LİSTELER</vt:lpstr>
      <vt:lpstr>LİSTELER</vt:lpstr>
      <vt:lpstr>LİSTELER</vt:lpstr>
      <vt:lpstr>ÖNEMLİ LİSTE METOTLARI</vt:lpstr>
      <vt:lpstr>ÖNEMLİ LİSTE METOTLARI</vt:lpstr>
      <vt:lpstr>LİSTELER İLE STACK VE QUEUE</vt:lpstr>
      <vt:lpstr>LİSTELER İÇİNDE LİSTE OLUŞTURMA</vt:lpstr>
      <vt:lpstr>DEMETLER(TUPLES)</vt:lpstr>
      <vt:lpstr>ÖNEMLİ TUPLE METOTLARI</vt:lpstr>
      <vt:lpstr>KÜMELER(SETS)</vt:lpstr>
      <vt:lpstr>KÜMELER(SETS)</vt:lpstr>
      <vt:lpstr>ÖNEMLİ SET METOTLARI</vt:lpstr>
      <vt:lpstr>ÖNEMLİ SET METOTLARI</vt:lpstr>
      <vt:lpstr>ÖNEMLİ SET METOTLARI</vt:lpstr>
      <vt:lpstr>SÖZLÜKLER(DICTIONARIES)</vt:lpstr>
      <vt:lpstr>ÖNEMLİ DICTIONARY METOTLARI</vt:lpstr>
      <vt:lpstr>ÖNEMLİ DICTIONARY METOTLARI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 ve Bilişim Güvenliği</dc:title>
  <dc:creator>ZaferS</dc:creator>
  <cp:lastModifiedBy>Zafer</cp:lastModifiedBy>
  <cp:revision>198</cp:revision>
  <dcterms:created xsi:type="dcterms:W3CDTF">2023-12-09T09:03:26Z</dcterms:created>
  <dcterms:modified xsi:type="dcterms:W3CDTF">2024-10-07T08:13:27Z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